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4.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Lst>
  <p:notesMasterIdLst>
    <p:notesMasterId r:id="rId4"/>
  </p:notesMasterIdLst>
  <p:sldIdLst>
    <p:sldId id="256" r:id="rId3"/>
    <p:sldId id="259" r:id="rId5"/>
    <p:sldId id="258" r:id="rId6"/>
    <p:sldId id="280" r:id="rId7"/>
    <p:sldId id="260" r:id="rId8"/>
    <p:sldId id="261" r:id="rId9"/>
    <p:sldId id="277" r:id="rId10"/>
    <p:sldId id="270" r:id="rId11"/>
    <p:sldId id="273" r:id="rId12"/>
    <p:sldId id="284" r:id="rId13"/>
    <p:sldId id="285" r:id="rId14"/>
    <p:sldId id="272" r:id="rId15"/>
    <p:sldId id="278" r:id="rId16"/>
    <p:sldId id="279" r:id="rId17"/>
    <p:sldId id="281" r:id="rId18"/>
    <p:sldId id="283" r:id="rId19"/>
    <p:sldId id="276" r:id="rId20"/>
    <p:sldId id="268"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70707"/>
    <a:srgbClr val="0020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204" autoAdjust="0"/>
    <p:restoredTop sz="95165" autoAdjust="0"/>
  </p:normalViewPr>
  <p:slideViewPr>
    <p:cSldViewPr snapToGrid="0" showGuides="1">
      <p:cViewPr varScale="1">
        <p:scale>
          <a:sx n="82" d="100"/>
          <a:sy n="82" d="100"/>
        </p:scale>
        <p:origin x="710"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panose="020F0502020204030204"/>
                <a:ea typeface="Calibri" panose="020F0502020204030204"/>
                <a:cs typeface="Calibri" panose="020F0502020204030204"/>
                <a:sym typeface="Calibri" panose="020F0502020204030204"/>
              </a:rPr>
            </a:fld>
            <a:endParaRPr sz="1200" b="0" i="0" u="none" strike="noStrike" cap="none">
              <a:solidFill>
                <a:schemeClr val="dk1"/>
              </a:solidFill>
              <a:latin typeface="Calibri" panose="020F0502020204030204"/>
              <a:ea typeface="Calibri" panose="020F0502020204030204"/>
              <a:cs typeface="Calibri" panose="020F0502020204030204"/>
              <a:sym typeface="Calibri" panose="020F05020202040302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88"/>
        <p:cNvGrpSpPr/>
        <p:nvPr/>
      </p:nvGrpSpPr>
      <p:grpSpPr>
        <a:xfrm>
          <a:off x="0" y="0"/>
          <a:ext cx="0" cy="0"/>
          <a:chOff x="0" y="0"/>
          <a:chExt cx="0" cy="0"/>
        </a:xfrm>
      </p:grpSpPr>
      <p:sp>
        <p:nvSpPr>
          <p:cNvPr id="89" name="Google Shape;89;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0" name="Google Shape;90;p1: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91" name="Google Shape;91;p1:notes"/>
          <p:cNvSpPr txBox="1">
            <a:spLocks noGrp="1"/>
          </p:cNvSpPr>
          <p:nvPr>
            <p:ph type="body" idx="1"/>
          </p:nvPr>
        </p:nvSpPr>
        <p:spPr>
          <a:xfrm>
            <a:off x="777875" y="4776788"/>
            <a:ext cx="6218238" cy="45259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7"/>
        <p:cNvGrpSpPr/>
        <p:nvPr/>
      </p:nvGrpSpPr>
      <p:grpSpPr>
        <a:xfrm>
          <a:off x="0" y="0"/>
          <a:ext cx="0" cy="0"/>
          <a:chOff x="0" y="0"/>
          <a:chExt cx="0" cy="0"/>
        </a:xfrm>
      </p:grpSpPr>
      <p:sp>
        <p:nvSpPr>
          <p:cNvPr id="118" name="Google Shape;118;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New Roman" panose="02020603050405020304"/>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9" name="Google Shape;119;p4: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20" name="Google Shape;120;p4:notes"/>
          <p:cNvSpPr txBox="1">
            <a:spLocks noGrp="1"/>
          </p:cNvSpPr>
          <p:nvPr>
            <p:ph type="body" idx="1"/>
          </p:nvPr>
        </p:nvSpPr>
        <p:spPr>
          <a:xfrm>
            <a:off x="777875" y="4776788"/>
            <a:ext cx="6218100" cy="452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Calibri" panose="020F050202020403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08"/>
        <p:cNvGrpSpPr/>
        <p:nvPr/>
      </p:nvGrpSpPr>
      <p:grpSpPr>
        <a:xfrm>
          <a:off x="0" y="0"/>
          <a:ext cx="0" cy="0"/>
          <a:chOff x="0" y="0"/>
          <a:chExt cx="0" cy="0"/>
        </a:xfrm>
      </p:grpSpPr>
      <p:sp>
        <p:nvSpPr>
          <p:cNvPr id="109" name="Google Shape;109;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0" name="Google Shape;110;p3: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11" name="Google Shape;111;p3:notes"/>
          <p:cNvSpPr txBox="1">
            <a:spLocks noGrp="1"/>
          </p:cNvSpPr>
          <p:nvPr>
            <p:ph type="body" idx="1"/>
          </p:nvPr>
        </p:nvSpPr>
        <p:spPr>
          <a:xfrm>
            <a:off x="777875" y="4776788"/>
            <a:ext cx="6218238" cy="45259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17"/>
        <p:cNvGrpSpPr/>
        <p:nvPr/>
      </p:nvGrpSpPr>
      <p:grpSpPr>
        <a:xfrm>
          <a:off x="0" y="0"/>
          <a:ext cx="0" cy="0"/>
          <a:chOff x="0" y="0"/>
          <a:chExt cx="0" cy="0"/>
        </a:xfrm>
      </p:grpSpPr>
      <p:sp>
        <p:nvSpPr>
          <p:cNvPr id="118" name="Google Shape;118;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New Roman" panose="02020603050405020304"/>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19" name="Google Shape;119;p4: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20" name="Google Shape;120;p4:notes"/>
          <p:cNvSpPr txBox="1">
            <a:spLocks noGrp="1"/>
          </p:cNvSpPr>
          <p:nvPr>
            <p:ph type="body" idx="1"/>
          </p:nvPr>
        </p:nvSpPr>
        <p:spPr>
          <a:xfrm>
            <a:off x="777875" y="4776788"/>
            <a:ext cx="6218100" cy="452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Calibri" panose="020F0502020204030204"/>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26"/>
        <p:cNvGrpSpPr/>
        <p:nvPr/>
      </p:nvGrpSpPr>
      <p:grpSpPr>
        <a:xfrm>
          <a:off x="0" y="0"/>
          <a:ext cx="0" cy="0"/>
          <a:chOff x="0" y="0"/>
          <a:chExt cx="0" cy="0"/>
        </a:xfrm>
      </p:grpSpPr>
      <p:sp>
        <p:nvSpPr>
          <p:cNvPr id="127" name="Google Shape;127;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28" name="Google Shape;128;p5: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29" name="Google Shape;129;p5:notes"/>
          <p:cNvSpPr txBox="1">
            <a:spLocks noGrp="1"/>
          </p:cNvSpPr>
          <p:nvPr>
            <p:ph type="body" idx="1"/>
          </p:nvPr>
        </p:nvSpPr>
        <p:spPr>
          <a:xfrm>
            <a:off x="777875" y="4776788"/>
            <a:ext cx="6218238" cy="45259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New Roman" panose="02020603050405020304"/>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7: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7" name="Google Shape;147;p7:notes"/>
          <p:cNvSpPr txBox="1">
            <a:spLocks noGrp="1"/>
          </p:cNvSpPr>
          <p:nvPr>
            <p:ph type="body" idx="1"/>
          </p:nvPr>
        </p:nvSpPr>
        <p:spPr>
          <a:xfrm>
            <a:off x="777875" y="4776788"/>
            <a:ext cx="6218100" cy="452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Calibri" panose="020F0502020204030204"/>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New Roman" panose="02020603050405020304"/>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7: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7" name="Google Shape;147;p7:notes"/>
          <p:cNvSpPr txBox="1">
            <a:spLocks noGrp="1"/>
          </p:cNvSpPr>
          <p:nvPr>
            <p:ph type="body" idx="1"/>
          </p:nvPr>
        </p:nvSpPr>
        <p:spPr>
          <a:xfrm>
            <a:off x="777875" y="4776788"/>
            <a:ext cx="6218100" cy="452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Calibri" panose="020F0502020204030204"/>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New Roman" panose="02020603050405020304"/>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7: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7" name="Google Shape;147;p7:notes"/>
          <p:cNvSpPr txBox="1">
            <a:spLocks noGrp="1"/>
          </p:cNvSpPr>
          <p:nvPr>
            <p:ph type="body" idx="1"/>
          </p:nvPr>
        </p:nvSpPr>
        <p:spPr>
          <a:xfrm>
            <a:off x="777875" y="4776788"/>
            <a:ext cx="6218100" cy="452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Calibri" panose="020F0502020204030204"/>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New Roman" panose="02020603050405020304"/>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7: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7" name="Google Shape;147;p7:notes"/>
          <p:cNvSpPr txBox="1">
            <a:spLocks noGrp="1"/>
          </p:cNvSpPr>
          <p:nvPr>
            <p:ph type="body" idx="1"/>
          </p:nvPr>
        </p:nvSpPr>
        <p:spPr>
          <a:xfrm>
            <a:off x="777875" y="4776788"/>
            <a:ext cx="6218100" cy="452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Calibri" panose="020F0502020204030204"/>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New Roman" panose="02020603050405020304"/>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7: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7" name="Google Shape;147;p7:notes"/>
          <p:cNvSpPr txBox="1">
            <a:spLocks noGrp="1"/>
          </p:cNvSpPr>
          <p:nvPr>
            <p:ph type="body" idx="1"/>
          </p:nvPr>
        </p:nvSpPr>
        <p:spPr>
          <a:xfrm>
            <a:off x="777875" y="4776788"/>
            <a:ext cx="6218100" cy="452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Calibri" panose="020F0502020204030204"/>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New Roman" panose="02020603050405020304"/>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7: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7" name="Google Shape;147;p7:notes"/>
          <p:cNvSpPr txBox="1">
            <a:spLocks noGrp="1"/>
          </p:cNvSpPr>
          <p:nvPr>
            <p:ph type="body" idx="1"/>
          </p:nvPr>
        </p:nvSpPr>
        <p:spPr>
          <a:xfrm>
            <a:off x="777875" y="4776788"/>
            <a:ext cx="6218100" cy="452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Calibri" panose="020F0502020204030204"/>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New Roman" panose="02020603050405020304"/>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7: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7" name="Google Shape;147;p7:notes"/>
          <p:cNvSpPr txBox="1">
            <a:spLocks noGrp="1"/>
          </p:cNvSpPr>
          <p:nvPr>
            <p:ph type="body" idx="1"/>
          </p:nvPr>
        </p:nvSpPr>
        <p:spPr>
          <a:xfrm>
            <a:off x="777875" y="4776788"/>
            <a:ext cx="6218100" cy="452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Calibri" panose="020F0502020204030204"/>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44"/>
        <p:cNvGrpSpPr/>
        <p:nvPr/>
      </p:nvGrpSpPr>
      <p:grpSpPr>
        <a:xfrm>
          <a:off x="0" y="0"/>
          <a:ext cx="0" cy="0"/>
          <a:chOff x="0" y="0"/>
          <a:chExt cx="0" cy="0"/>
        </a:xfrm>
      </p:grpSpPr>
      <p:sp>
        <p:nvSpPr>
          <p:cNvPr id="145" name="Google Shape;14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Times New Roman" panose="02020603050405020304"/>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46" name="Google Shape;146;p7: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47" name="Google Shape;147;p7:notes"/>
          <p:cNvSpPr txBox="1">
            <a:spLocks noGrp="1"/>
          </p:cNvSpPr>
          <p:nvPr>
            <p:ph type="body" idx="1"/>
          </p:nvPr>
        </p:nvSpPr>
        <p:spPr>
          <a:xfrm>
            <a:off x="777875" y="4776788"/>
            <a:ext cx="6218100" cy="45261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200"/>
              <a:buFont typeface="Calibri" panose="020F0502020204030204"/>
              <a:buNone/>
            </a:pPr>
            <a:endParaRPr dirty="0">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1" name="Shape 198"/>
        <p:cNvGrpSpPr/>
        <p:nvPr/>
      </p:nvGrpSpPr>
      <p:grpSpPr>
        <a:xfrm>
          <a:off x="0" y="0"/>
          <a:ext cx="0" cy="0"/>
          <a:chOff x="0" y="0"/>
          <a:chExt cx="0" cy="0"/>
        </a:xfrm>
      </p:grpSpPr>
      <p:sp>
        <p:nvSpPr>
          <p:cNvPr id="199" name="Google Shape;199;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fld>
            <a:endPara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200" name="Google Shape;200;p10:notes"/>
          <p:cNvSpPr>
            <a:spLocks noGrp="1" noRot="1" noChangeAspect="1"/>
          </p:cNvSpPr>
          <p:nvPr>
            <p:ph type="sldImg" idx="2"/>
          </p:nvPr>
        </p:nvSpPr>
        <p:spPr>
          <a:xfrm>
            <a:off x="533400" y="763588"/>
            <a:ext cx="6705600"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201" name="Google Shape;201;p10:notes"/>
          <p:cNvSpPr txBox="1">
            <a:spLocks noGrp="1"/>
          </p:cNvSpPr>
          <p:nvPr>
            <p:ph type="body" idx="1"/>
          </p:nvPr>
        </p:nvSpPr>
        <p:spPr>
          <a:xfrm>
            <a:off x="777875" y="4776788"/>
            <a:ext cx="6218238" cy="4525962"/>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914401" y="2130425"/>
            <a:ext cx="10361084" cy="1468438"/>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070A458B-CEA5-42AD-9E2A-0022E3C6143D}" type="datetime3">
              <a:rPr lang="en-US" smtClean="0"/>
            </a:fld>
            <a:endParaRPr lang="en-US"/>
          </a:p>
        </p:txBody>
      </p:sp>
      <p:sp>
        <p:nvSpPr>
          <p:cNvPr id="18" name="Google Shape;18;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Title and Content">
  <p:cSld name="OBJECT">
    <p:spTree>
      <p:nvGrpSpPr>
        <p:cNvPr id="1" name="Shape 19"/>
        <p:cNvGrpSpPr/>
        <p:nvPr/>
      </p:nvGrpSpPr>
      <p:grpSpPr>
        <a:xfrm>
          <a:off x="0" y="0"/>
          <a:ext cx="0" cy="0"/>
          <a:chOff x="0" y="0"/>
          <a:chExt cx="0" cy="0"/>
        </a:xfrm>
      </p:grpSpPr>
      <p:sp>
        <p:nvSpPr>
          <p:cNvPr id="20" name="Google Shape;20;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22" name="Google Shape;22;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933FE390-029F-41B1-8A2D-499709EBE988}" type="datetime3">
              <a:rPr lang="en-US" smtClean="0"/>
            </a:fld>
            <a:endParaRPr lang="en-US"/>
          </a:p>
        </p:txBody>
      </p:sp>
      <p:sp>
        <p:nvSpPr>
          <p:cNvPr id="23" name="Google Shape;23;p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matchingName="Blank">
  <p:cSld name="BLANK">
    <p:spTree>
      <p:nvGrpSpPr>
        <p:cNvPr id="1" name="Shape 25"/>
        <p:cNvGrpSpPr/>
        <p:nvPr/>
      </p:nvGrpSpPr>
      <p:grpSpPr>
        <a:xfrm>
          <a:off x="0" y="0"/>
          <a:ext cx="0" cy="0"/>
          <a:chOff x="0" y="0"/>
          <a:chExt cx="0" cy="0"/>
        </a:xfrm>
      </p:grpSpPr>
      <p:sp>
        <p:nvSpPr>
          <p:cNvPr id="26" name="Google Shape;26;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80C4F162-3B8F-4218-910E-2E31CD87A7D2}" type="datetime3">
              <a:rPr lang="en-US" smtClean="0"/>
            </a:fld>
            <a:endParaRPr lang="en-US"/>
          </a:p>
        </p:txBody>
      </p:sp>
      <p:sp>
        <p:nvSpPr>
          <p:cNvPr id="27" name="Google Shape;27;p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matchingName="Title Slide">
  <p:cSld name="TITLE">
    <p:spTree>
      <p:nvGrpSpPr>
        <p:cNvPr id="1" name="Shape 29"/>
        <p:cNvGrpSpPr/>
        <p:nvPr/>
      </p:nvGrpSpPr>
      <p:grpSpPr>
        <a:xfrm>
          <a:off x="0" y="0"/>
          <a:ext cx="0" cy="0"/>
          <a:chOff x="0" y="0"/>
          <a:chExt cx="0" cy="0"/>
        </a:xfrm>
      </p:grpSpPr>
      <p:sp>
        <p:nvSpPr>
          <p:cNvPr id="30" name="Google Shape;30;p5"/>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5"/>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2" name="Google Shape;32;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A3BF82DD-DDAA-4761-8129-67A78D482C26}" type="datetime3">
              <a:rPr lang="en-US" smtClean="0"/>
            </a:fld>
            <a:endParaRPr lang="en-US"/>
          </a:p>
        </p:txBody>
      </p:sp>
      <p:sp>
        <p:nvSpPr>
          <p:cNvPr id="33" name="Google Shape;33;p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matchingName="Section Header">
  <p:cSld name="SECTION_HEADER">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panose="020F0502020204030204"/>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 name="Google Shape;37;p6"/>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p:txBody>
      </p:sp>
      <p:sp>
        <p:nvSpPr>
          <p:cNvPr id="38" name="Google Shape;38;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CA72535-2AE4-474E-9FD0-5AA7B9E8F176}" type="datetime3">
              <a:rPr lang="en-US" smtClean="0"/>
            </a:fld>
            <a:endParaRPr lang="en-US"/>
          </a:p>
        </p:txBody>
      </p:sp>
      <p:sp>
        <p:nvSpPr>
          <p:cNvPr id="39" name="Google Shape;39;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matchingName="Two Content">
  <p:cSld name="TWO_OBJECTS">
    <p:spTree>
      <p:nvGrpSpPr>
        <p:cNvPr id="1" name="Shape 41"/>
        <p:cNvGrpSpPr/>
        <p:nvPr/>
      </p:nvGrpSpPr>
      <p:grpSpPr>
        <a:xfrm>
          <a:off x="0" y="0"/>
          <a:ext cx="0" cy="0"/>
          <a:chOff x="0" y="0"/>
          <a:chExt cx="0" cy="0"/>
        </a:xfrm>
      </p:grpSpPr>
      <p:sp>
        <p:nvSpPr>
          <p:cNvPr id="42" name="Google Shape;42;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4" name="Google Shape;44;p7"/>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45" name="Google Shape;45;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2EC4AB06-4EA3-442C-8C55-6B5A0C80A6EA}" type="datetime3">
              <a:rPr lang="en-US" smtClean="0"/>
            </a:fld>
            <a:endParaRPr lang="en-US"/>
          </a:p>
        </p:txBody>
      </p:sp>
      <p:sp>
        <p:nvSpPr>
          <p:cNvPr id="46" name="Google Shape;46;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matchingName="Comparison">
  <p:cSld name="TWO_OBJECTS_WITH_TEXT">
    <p:spTree>
      <p:nvGrpSpPr>
        <p:cNvPr id="1" name="Shape 48"/>
        <p:cNvGrpSpPr/>
        <p:nvPr/>
      </p:nvGrpSpPr>
      <p:grpSpPr>
        <a:xfrm>
          <a:off x="0" y="0"/>
          <a:ext cx="0" cy="0"/>
          <a:chOff x="0" y="0"/>
          <a:chExt cx="0" cy="0"/>
        </a:xfrm>
      </p:grpSpPr>
      <p:sp>
        <p:nvSpPr>
          <p:cNvPr id="49" name="Google Shape;49;p8"/>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8"/>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1" name="Google Shape;51;p8"/>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2" name="Google Shape;52;p8"/>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p:txBody>
      </p:sp>
      <p:sp>
        <p:nvSpPr>
          <p:cNvPr id="53" name="Google Shape;53;p8"/>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54" name="Google Shape;5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EC040EB0-4192-425C-B43A-A102F9B9603A}" type="datetime3">
              <a:rPr lang="en-US" smtClean="0"/>
            </a:fld>
            <a:endParaRPr lang="en-US"/>
          </a:p>
        </p:txBody>
      </p:sp>
      <p:sp>
        <p:nvSpPr>
          <p:cNvPr id="55" name="Google Shape;5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matchingName="Title Only">
  <p:cSld name="TITLE_ONLY">
    <p:spTree>
      <p:nvGrpSpPr>
        <p:cNvPr id="1" name="Shape 57"/>
        <p:cNvGrpSpPr/>
        <p:nvPr/>
      </p:nvGrpSpPr>
      <p:grpSpPr>
        <a:xfrm>
          <a:off x="0" y="0"/>
          <a:ext cx="0" cy="0"/>
          <a:chOff x="0" y="0"/>
          <a:chExt cx="0" cy="0"/>
        </a:xfrm>
      </p:grpSpPr>
      <p:sp>
        <p:nvSpPr>
          <p:cNvPr id="58" name="Google Shape;58;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9" name="Google Shape;5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03C7E0E2-2B92-4BA8-8A83-0D80A86E9221}" type="datetime3">
              <a:rPr lang="en-US" smtClean="0"/>
            </a:fld>
            <a:endParaRPr lang="en-US"/>
          </a:p>
        </p:txBody>
      </p:sp>
      <p:sp>
        <p:nvSpPr>
          <p:cNvPr id="60" name="Google Shape;6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matchingName="Content with Caption">
  <p:cSld name="OBJECT_WITH_CAPTION_TEXT">
    <p:spTree>
      <p:nvGrpSpPr>
        <p:cNvPr id="1" name="Shape 62"/>
        <p:cNvGrpSpPr/>
        <p:nvPr/>
      </p:nvGrpSpPr>
      <p:grpSpPr>
        <a:xfrm>
          <a:off x="0" y="0"/>
          <a:ext cx="0" cy="0"/>
          <a:chOff x="0" y="0"/>
          <a:chExt cx="0" cy="0"/>
        </a:xfrm>
      </p:grpSpPr>
      <p:sp>
        <p:nvSpPr>
          <p:cNvPr id="63" name="Google Shape;63;p1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0"/>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p:txBody>
      </p:sp>
      <p:sp>
        <p:nvSpPr>
          <p:cNvPr id="65" name="Google Shape;65;p10"/>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66" name="Google Shape;6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EE1DC0C-CD91-4615-8386-4E4AEE6D9C53}" type="datetime3">
              <a:rPr lang="en-US" smtClean="0"/>
            </a:fld>
            <a:endParaRPr lang="en-US"/>
          </a:p>
        </p:txBody>
      </p:sp>
      <p:sp>
        <p:nvSpPr>
          <p:cNvPr id="67" name="Google Shape;6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matchingName="Picture with Caption">
  <p:cSld name="PICTURE_WITH_CAPTION_TEXT">
    <p:spTree>
      <p:nvGrpSpPr>
        <p:cNvPr id="1" name="Shape 69"/>
        <p:cNvGrpSpPr/>
        <p:nvPr/>
      </p:nvGrpSpPr>
      <p:grpSpPr>
        <a:xfrm>
          <a:off x="0" y="0"/>
          <a:ext cx="0" cy="0"/>
          <a:chOff x="0" y="0"/>
          <a:chExt cx="0" cy="0"/>
        </a:xfrm>
      </p:grpSpPr>
      <p:sp>
        <p:nvSpPr>
          <p:cNvPr id="70" name="Google Shape;70;p11"/>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panose="020F0502020204030204"/>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a:spLocks noGrp="1"/>
          </p:cNvSpPr>
          <p:nvPr>
            <p:ph type="pic" idx="2"/>
          </p:nvPr>
        </p:nvSpPr>
        <p:spPr>
          <a:xfrm>
            <a:off x="5183188" y="987425"/>
            <a:ext cx="6172200" cy="4873625"/>
          </a:xfrm>
          <a:prstGeom prst="rect">
            <a:avLst/>
          </a:prstGeom>
          <a:noFill/>
          <a:ln>
            <a:noFill/>
          </a:ln>
        </p:spPr>
      </p:sp>
      <p:sp>
        <p:nvSpPr>
          <p:cNvPr id="72" name="Google Shape;72;p11"/>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p:txBody>
      </p:sp>
      <p:sp>
        <p:nvSpPr>
          <p:cNvPr id="73" name="Google Shape;73;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C57E78B3-AC73-4989-ADF1-04656052966C}" type="datetime3">
              <a:rPr lang="en-US" smtClean="0"/>
            </a:fld>
            <a:endParaRPr lang="en-US"/>
          </a:p>
        </p:txBody>
      </p:sp>
      <p:sp>
        <p:nvSpPr>
          <p:cNvPr id="74" name="Google Shape;74;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matchingName="Title and Vertical Text">
  <p:cSld name="VERTICAL_TEXT">
    <p:spTree>
      <p:nvGrpSpPr>
        <p:cNvPr id="1" name="Shape 76"/>
        <p:cNvGrpSpPr/>
        <p:nvPr/>
      </p:nvGrpSpPr>
      <p:grpSpPr>
        <a:xfrm>
          <a:off x="0" y="0"/>
          <a:ext cx="0" cy="0"/>
          <a:chOff x="0" y="0"/>
          <a:chExt cx="0" cy="0"/>
        </a:xfrm>
      </p:grpSpPr>
      <p:sp>
        <p:nvSpPr>
          <p:cNvPr id="77" name="Google Shape;77;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8" name="Google Shape;78;p12"/>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79" name="Google Shape;79;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1123E29E-506E-4F43-95CD-62AC0848246A}" type="datetime3">
              <a:rPr lang="en-US" smtClean="0"/>
            </a:fld>
            <a:endParaRPr lang="en-US"/>
          </a:p>
        </p:txBody>
      </p:sp>
      <p:sp>
        <p:nvSpPr>
          <p:cNvPr id="80" name="Google Shape;80;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matchingName="Vertical Title and Text">
  <p:cSld name="VERTICAL_TITLE_AND_VERTICAL_TEXT">
    <p:spTree>
      <p:nvGrpSpPr>
        <p:cNvPr id="1" name="Shape 82"/>
        <p:cNvGrpSpPr/>
        <p:nvPr/>
      </p:nvGrpSpPr>
      <p:grpSpPr>
        <a:xfrm>
          <a:off x="0" y="0"/>
          <a:ext cx="0" cy="0"/>
          <a:chOff x="0" y="0"/>
          <a:chExt cx="0" cy="0"/>
        </a:xfrm>
      </p:grpSpPr>
      <p:sp>
        <p:nvSpPr>
          <p:cNvPr id="83" name="Google Shape;83;p13"/>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13"/>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p:txBody>
      </p:sp>
      <p:sp>
        <p:nvSpPr>
          <p:cNvPr id="85" name="Google Shape;85;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fld id="{79A04501-6E0D-438A-A93F-88750EEB5DEB}" type="datetime3">
              <a:rPr lang="en-US" smtClean="0"/>
            </a:fld>
            <a:endParaRPr lang="en-US"/>
          </a:p>
        </p:txBody>
      </p:sp>
      <p:sp>
        <p:nvSpPr>
          <p:cNvPr id="86" name="Google Shape;86;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7" name="Google Shape;87;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panose="020F0502020204030204"/>
              <a:buNone/>
              <a:defRPr sz="4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2" name="Google Shape;12;p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fld id="{8FECD91C-05BB-4C24-8890-6D96CD74B65A}" type="datetime3">
              <a:rPr lang="en-US" smtClean="0"/>
            </a:fld>
            <a:endParaRPr lang="en-US"/>
          </a:p>
        </p:txBody>
      </p:sp>
      <p:sp>
        <p:nvSpPr>
          <p:cNvPr id="13" name="Google Shape;13;p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2pPr>
            <a:lvl3pPr marR="0" lvl="2"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3pPr>
            <a:lvl4pPr marR="0" lvl="3"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4pPr>
            <a:lvl5pPr marR="0" lvl="4"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5pPr>
            <a:lvl6pPr marR="0" lvl="5"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R="0" lvl="6"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R="0" lvl="7"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R="0" lvl="8" algn="l" rtl="0">
              <a:spcBef>
                <a:spcPts val="0"/>
              </a:spcBef>
              <a:spcAft>
                <a:spcPts val="0"/>
              </a:spcAft>
              <a:buSzPts val="1400"/>
              <a:buNone/>
              <a:defRPr sz="18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p:txBody>
      </p:sp>
      <p:sp>
        <p:nvSpPr>
          <p:cNvPr id="14" name="Google Shape;14;p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buNone/>
              <a:defRPr sz="1200" b="0" i="0" u="none" strike="noStrike" cap="none">
                <a:solidFill>
                  <a:srgbClr val="888888"/>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4" Type="http://schemas.openxmlformats.org/officeDocument/2006/relationships/notesSlide" Target="../notesSlides/notesSlide4.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8.xml.rels><?xml version="1.0" encoding="UTF-8" standalone="yes"?>
<Relationships xmlns="http://schemas.openxmlformats.org/package/2006/relationships"><Relationship Id="rId7" Type="http://schemas.openxmlformats.org/officeDocument/2006/relationships/notesSlide" Target="../notesSlides/notesSlide8.xml"/><Relationship Id="rId6"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image" Target="../media/image1.png"/></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2.xml"/><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image" Target="../media/image2.png"/><Relationship Id="rId1" Type="http://schemas.openxmlformats.org/officeDocument/2006/relationships/image" Target="../media/image1.png"/></Relationships>
</file>

<file path=ppt/slides/_rels/slide16.xml.rels><?xml version="1.0" encoding="UTF-8" standalone="yes"?>
<Relationships xmlns="http://schemas.openxmlformats.org/package/2006/relationships"><Relationship Id="rId4" Type="http://schemas.openxmlformats.org/officeDocument/2006/relationships/slideLayout" Target="../slideLayouts/slideLayout3.xml"/><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image" Target="../media/image8.pn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9.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p1"/>
          <p:cNvSpPr txBox="1">
            <a:spLocks noGrp="1"/>
          </p:cNvSpPr>
          <p:nvPr>
            <p:ph type="subTitle" idx="4294967295"/>
          </p:nvPr>
        </p:nvSpPr>
        <p:spPr>
          <a:xfrm>
            <a:off x="5770245" y="3655060"/>
            <a:ext cx="6035040" cy="1863725"/>
          </a:xfrm>
          <a:prstGeom prst="rect">
            <a:avLst/>
          </a:prstGeom>
          <a:solidFill>
            <a:srgbClr val="FFFFFF"/>
          </a:solidFill>
          <a:ln>
            <a:noFill/>
          </a:ln>
        </p:spPr>
        <p:txBody>
          <a:bodyPr spcFirstLastPara="1" wrap="square" lIns="91425" tIns="45700" rIns="91425" bIns="45700" anchor="t" anchorCtr="0">
            <a:noAutofit/>
          </a:bodyPr>
          <a:lstStyle/>
          <a:p>
            <a:pPr marL="50800" indent="0" algn="just">
              <a:lnSpc>
                <a:spcPct val="150000"/>
              </a:lnSpc>
              <a:buNone/>
            </a:pPr>
            <a:r>
              <a:rPr lang="en-US" sz="2000" b="1" dirty="0">
                <a:solidFill>
                  <a:schemeClr val="tx1"/>
                </a:solidFill>
                <a:latin typeface="Times New Roman" panose="02020603050405020304" pitchFamily="18" charset="0"/>
                <a:cs typeface="Times New Roman" panose="02020603050405020304" pitchFamily="18" charset="0"/>
              </a:rPr>
              <a:t>TEAM MEMBERS : </a:t>
            </a:r>
            <a:endParaRPr lang="en-US" sz="2400" dirty="0">
              <a:solidFill>
                <a:schemeClr val="tx1"/>
              </a:solidFill>
              <a:latin typeface="Times New Roman" panose="02020603050405020304" pitchFamily="18" charset="0"/>
              <a:cs typeface="Times New Roman" panose="02020603050405020304" pitchFamily="18" charset="0"/>
            </a:endParaRPr>
          </a:p>
          <a:p>
            <a:pPr algn="just" eaLnBrk="1" hangingPunct="1">
              <a:lnSpc>
                <a:spcPct val="150000"/>
              </a:lnSpc>
              <a:spcBef>
                <a:spcPct val="0"/>
              </a:spcBef>
              <a:buFontTx/>
              <a:buNone/>
            </a:pPr>
            <a:r>
              <a:rPr lang="en-US" altLang="en-IN" sz="2000" dirty="0">
                <a:solidFill>
                  <a:schemeClr val="tx1"/>
                </a:solidFill>
                <a:latin typeface="Times New Roman" panose="02020603050405020304" pitchFamily="18" charset="0"/>
                <a:cs typeface="Times New Roman" panose="02020603050405020304" pitchFamily="18" charset="0"/>
              </a:rPr>
              <a:t>SHAHIN ASHIKA K</a:t>
            </a:r>
            <a:r>
              <a:rPr lang="en-IN" altLang="en-US" sz="2000" dirty="0">
                <a:solidFill>
                  <a:schemeClr val="tx1"/>
                </a:solidFill>
                <a:latin typeface="Times New Roman" panose="02020603050405020304" pitchFamily="18" charset="0"/>
                <a:cs typeface="Times New Roman" panose="02020603050405020304" pitchFamily="18" charset="0"/>
              </a:rPr>
              <a:t>   </a:t>
            </a:r>
            <a:r>
              <a:rPr lang="en-US" altLang="en-IN" sz="2000" dirty="0">
                <a:solidFill>
                  <a:schemeClr val="tx1"/>
                </a:solidFill>
                <a:latin typeface="Times New Roman" panose="02020603050405020304" pitchFamily="18" charset="0"/>
                <a:cs typeface="Times New Roman" panose="02020603050405020304" pitchFamily="18" charset="0"/>
              </a:rPr>
              <a:t>                </a:t>
            </a:r>
            <a:r>
              <a:rPr lang="en-IN" altLang="en-US" sz="2000" dirty="0">
                <a:solidFill>
                  <a:schemeClr val="tx1"/>
                </a:solidFill>
                <a:latin typeface="Times New Roman" panose="02020603050405020304" pitchFamily="18" charset="0"/>
                <a:cs typeface="Times New Roman" panose="02020603050405020304" pitchFamily="18" charset="0"/>
              </a:rPr>
              <a:t>– 8115U23EC0</a:t>
            </a:r>
            <a:r>
              <a:rPr lang="en-US" altLang="en-IN" sz="2000" dirty="0">
                <a:solidFill>
                  <a:schemeClr val="tx1"/>
                </a:solidFill>
                <a:latin typeface="Times New Roman" panose="02020603050405020304" pitchFamily="18" charset="0"/>
                <a:cs typeface="Times New Roman" panose="02020603050405020304" pitchFamily="18" charset="0"/>
              </a:rPr>
              <a:t>97</a:t>
            </a:r>
            <a:endParaRPr lang="en-US" altLang="en-IN" sz="2000" dirty="0">
              <a:solidFill>
                <a:schemeClr val="tx1"/>
              </a:solidFill>
              <a:latin typeface="Times New Roman" panose="02020603050405020304" pitchFamily="18" charset="0"/>
              <a:cs typeface="Times New Roman" panose="02020603050405020304" pitchFamily="18" charset="0"/>
            </a:endParaRPr>
          </a:p>
          <a:p>
            <a:pPr algn="just" eaLnBrk="1" hangingPunct="1">
              <a:lnSpc>
                <a:spcPct val="150000"/>
              </a:lnSpc>
              <a:spcBef>
                <a:spcPct val="0"/>
              </a:spcBef>
              <a:buFontTx/>
              <a:buNone/>
            </a:pPr>
            <a:r>
              <a:rPr lang="en-IN" altLang="en-US" sz="2000" dirty="0">
                <a:solidFill>
                  <a:schemeClr val="tx1"/>
                </a:solidFill>
                <a:latin typeface="Times New Roman" panose="02020603050405020304" pitchFamily="18" charset="0"/>
                <a:cs typeface="Times New Roman" panose="02020603050405020304" pitchFamily="18" charset="0"/>
              </a:rPr>
              <a:t>S</a:t>
            </a:r>
            <a:r>
              <a:rPr lang="en-US" altLang="en-IN" sz="2000" dirty="0">
                <a:solidFill>
                  <a:schemeClr val="tx1"/>
                </a:solidFill>
                <a:latin typeface="Times New Roman" panose="02020603050405020304" pitchFamily="18" charset="0"/>
                <a:cs typeface="Times New Roman" panose="02020603050405020304" pitchFamily="18" charset="0"/>
              </a:rPr>
              <a:t>HRUTHI R</a:t>
            </a:r>
            <a:r>
              <a:rPr lang="en-IN" altLang="en-US" sz="2000" dirty="0">
                <a:solidFill>
                  <a:schemeClr val="tx1"/>
                </a:solidFill>
                <a:latin typeface="Times New Roman" panose="02020603050405020304" pitchFamily="18" charset="0"/>
                <a:cs typeface="Times New Roman" panose="02020603050405020304" pitchFamily="18" charset="0"/>
              </a:rPr>
              <a:t> </a:t>
            </a:r>
            <a:r>
              <a:rPr lang="en-US" altLang="en-IN" sz="2000" dirty="0">
                <a:solidFill>
                  <a:schemeClr val="tx1"/>
                </a:solidFill>
                <a:latin typeface="Times New Roman" panose="02020603050405020304" pitchFamily="18" charset="0"/>
                <a:cs typeface="Times New Roman" panose="02020603050405020304" pitchFamily="18" charset="0"/>
              </a:rPr>
              <a:t>                               </a:t>
            </a:r>
            <a:r>
              <a:rPr lang="en-IN" altLang="en-US" sz="2000" dirty="0">
                <a:solidFill>
                  <a:schemeClr val="tx1"/>
                </a:solidFill>
                <a:latin typeface="Times New Roman" panose="02020603050405020304" pitchFamily="18" charset="0"/>
                <a:cs typeface="Times New Roman" panose="02020603050405020304" pitchFamily="18" charset="0"/>
              </a:rPr>
              <a:t> – 8115U23EC</a:t>
            </a:r>
            <a:r>
              <a:rPr lang="en-US" altLang="en-IN" sz="2000" dirty="0">
                <a:solidFill>
                  <a:schemeClr val="tx1"/>
                </a:solidFill>
                <a:latin typeface="Times New Roman" panose="02020603050405020304" pitchFamily="18" charset="0"/>
                <a:cs typeface="Times New Roman" panose="02020603050405020304" pitchFamily="18" charset="0"/>
              </a:rPr>
              <a:t>1</a:t>
            </a:r>
            <a:r>
              <a:rPr lang="en-IN" altLang="en-US" sz="2000" dirty="0">
                <a:solidFill>
                  <a:schemeClr val="tx1"/>
                </a:solidFill>
                <a:latin typeface="Times New Roman" panose="02020603050405020304" pitchFamily="18" charset="0"/>
                <a:cs typeface="Times New Roman" panose="02020603050405020304" pitchFamily="18" charset="0"/>
              </a:rPr>
              <a:t>0</a:t>
            </a:r>
            <a:r>
              <a:rPr lang="en-US" altLang="en-IN" sz="2000" dirty="0">
                <a:solidFill>
                  <a:schemeClr val="tx1"/>
                </a:solidFill>
                <a:latin typeface="Times New Roman" panose="02020603050405020304" pitchFamily="18" charset="0"/>
                <a:cs typeface="Times New Roman" panose="02020603050405020304" pitchFamily="18" charset="0"/>
              </a:rPr>
              <a:t>2</a:t>
            </a:r>
            <a:endParaRPr lang="en-IN" altLang="en-US" sz="2000" dirty="0">
              <a:solidFill>
                <a:schemeClr val="tx1"/>
              </a:solidFill>
              <a:latin typeface="Times New Roman" panose="02020603050405020304" pitchFamily="18" charset="0"/>
              <a:cs typeface="Times New Roman" panose="02020603050405020304" pitchFamily="18" charset="0"/>
            </a:endParaRPr>
          </a:p>
          <a:p>
            <a:pPr algn="just" eaLnBrk="1" hangingPunct="1">
              <a:lnSpc>
                <a:spcPct val="150000"/>
              </a:lnSpc>
              <a:spcBef>
                <a:spcPct val="0"/>
              </a:spcBef>
              <a:buFontTx/>
              <a:buNone/>
            </a:pPr>
            <a:r>
              <a:rPr lang="en-IN" altLang="en-US" sz="2000" dirty="0">
                <a:solidFill>
                  <a:schemeClr val="tx1"/>
                </a:solidFill>
                <a:latin typeface="Times New Roman" panose="02020603050405020304" pitchFamily="18" charset="0"/>
                <a:cs typeface="Times New Roman" panose="02020603050405020304" pitchFamily="18" charset="0"/>
              </a:rPr>
              <a:t>S</a:t>
            </a:r>
            <a:r>
              <a:rPr lang="en-US" altLang="en-IN" sz="2000" dirty="0">
                <a:solidFill>
                  <a:schemeClr val="tx1"/>
                </a:solidFill>
                <a:latin typeface="Times New Roman" panose="02020603050405020304" pitchFamily="18" charset="0"/>
                <a:cs typeface="Times New Roman" panose="02020603050405020304" pitchFamily="18" charset="0"/>
              </a:rPr>
              <a:t>RI AMIRTHA VARSHINI S V </a:t>
            </a:r>
            <a:r>
              <a:rPr lang="en-IN" altLang="en-US" sz="2000" dirty="0">
                <a:solidFill>
                  <a:schemeClr val="tx1"/>
                </a:solidFill>
                <a:latin typeface="Times New Roman" panose="02020603050405020304" pitchFamily="18" charset="0"/>
                <a:cs typeface="Times New Roman" panose="02020603050405020304" pitchFamily="18" charset="0"/>
              </a:rPr>
              <a:t>– 8115U23EC</a:t>
            </a:r>
            <a:r>
              <a:rPr lang="en-US" altLang="en-IN" sz="2000" dirty="0">
                <a:solidFill>
                  <a:schemeClr val="tx1"/>
                </a:solidFill>
                <a:latin typeface="Times New Roman" panose="02020603050405020304" pitchFamily="18" charset="0"/>
                <a:cs typeface="Times New Roman" panose="02020603050405020304" pitchFamily="18" charset="0"/>
              </a:rPr>
              <a:t>1</a:t>
            </a:r>
            <a:r>
              <a:rPr lang="en-IN" altLang="en-US" sz="2000" dirty="0">
                <a:solidFill>
                  <a:schemeClr val="tx1"/>
                </a:solidFill>
                <a:latin typeface="Times New Roman" panose="02020603050405020304" pitchFamily="18" charset="0"/>
                <a:cs typeface="Times New Roman" panose="02020603050405020304" pitchFamily="18" charset="0"/>
              </a:rPr>
              <a:t>08</a:t>
            </a:r>
            <a:endParaRPr lang="en-IN" altLang="en-US" sz="2000" dirty="0">
              <a:solidFill>
                <a:schemeClr val="tx1"/>
              </a:solidFill>
              <a:latin typeface="Times New Roman" panose="02020603050405020304" pitchFamily="18" charset="0"/>
              <a:cs typeface="Times New Roman" panose="02020603050405020304" pitchFamily="18" charset="0"/>
            </a:endParaRPr>
          </a:p>
          <a:p>
            <a:pPr algn="just" eaLnBrk="1" hangingPunct="1">
              <a:lnSpc>
                <a:spcPct val="150000"/>
              </a:lnSpc>
              <a:spcBef>
                <a:spcPct val="0"/>
              </a:spcBef>
              <a:buFontTx/>
              <a:buNone/>
            </a:pPr>
            <a:r>
              <a:rPr lang="en-IN" altLang="en-US" sz="2000" dirty="0">
                <a:solidFill>
                  <a:schemeClr val="tx1"/>
                </a:solidFill>
                <a:latin typeface="Times New Roman" panose="02020603050405020304" pitchFamily="18" charset="0"/>
                <a:cs typeface="Times New Roman" panose="02020603050405020304" pitchFamily="18" charset="0"/>
              </a:rPr>
              <a:t>S</a:t>
            </a:r>
            <a:r>
              <a:rPr lang="en-US" altLang="en-IN" sz="2000" dirty="0">
                <a:solidFill>
                  <a:schemeClr val="tx1"/>
                </a:solidFill>
                <a:latin typeface="Times New Roman" panose="02020603050405020304" pitchFamily="18" charset="0"/>
                <a:cs typeface="Times New Roman" panose="02020603050405020304" pitchFamily="18" charset="0"/>
              </a:rPr>
              <a:t>RI VIDHYA B</a:t>
            </a:r>
            <a:r>
              <a:rPr lang="en-IN" altLang="en-US" sz="2000" dirty="0">
                <a:solidFill>
                  <a:schemeClr val="tx1"/>
                </a:solidFill>
                <a:latin typeface="Times New Roman" panose="02020603050405020304" pitchFamily="18" charset="0"/>
                <a:cs typeface="Times New Roman" panose="02020603050405020304" pitchFamily="18" charset="0"/>
              </a:rPr>
              <a:t>   </a:t>
            </a:r>
            <a:r>
              <a:rPr lang="en-US" altLang="en-IN" sz="2000" dirty="0">
                <a:solidFill>
                  <a:schemeClr val="tx1"/>
                </a:solidFill>
                <a:latin typeface="Times New Roman" panose="02020603050405020304" pitchFamily="18" charset="0"/>
                <a:cs typeface="Times New Roman" panose="02020603050405020304" pitchFamily="18" charset="0"/>
              </a:rPr>
              <a:t>                        </a:t>
            </a:r>
            <a:r>
              <a:rPr lang="en-IN" altLang="en-US" sz="2000" dirty="0">
                <a:solidFill>
                  <a:schemeClr val="tx1"/>
                </a:solidFill>
                <a:latin typeface="Times New Roman" panose="02020603050405020304" pitchFamily="18" charset="0"/>
                <a:cs typeface="Times New Roman" panose="02020603050405020304" pitchFamily="18" charset="0"/>
              </a:rPr>
              <a:t> – 8115U23EC</a:t>
            </a:r>
            <a:r>
              <a:rPr lang="en-US" altLang="en-IN" sz="2000" dirty="0">
                <a:solidFill>
                  <a:schemeClr val="tx1"/>
                </a:solidFill>
                <a:latin typeface="Times New Roman" panose="02020603050405020304" pitchFamily="18" charset="0"/>
                <a:cs typeface="Times New Roman" panose="02020603050405020304" pitchFamily="18" charset="0"/>
              </a:rPr>
              <a:t>110</a:t>
            </a:r>
            <a:endParaRPr lang="en-US" altLang="en-IN" sz="2000" dirty="0">
              <a:solidFill>
                <a:schemeClr val="tx1"/>
              </a:solidFill>
              <a:latin typeface="Times New Roman" panose="02020603050405020304" pitchFamily="18" charset="0"/>
              <a:cs typeface="Times New Roman" panose="02020603050405020304" pitchFamily="18" charset="0"/>
            </a:endParaRPr>
          </a:p>
        </p:txBody>
      </p:sp>
      <p:sp>
        <p:nvSpPr>
          <p:cNvPr id="207" name="Google Shape;207;p1"/>
          <p:cNvSpPr/>
          <p:nvPr/>
        </p:nvSpPr>
        <p:spPr>
          <a:xfrm>
            <a:off x="1679575" y="-1684338"/>
            <a:ext cx="3543300" cy="3514800"/>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panose="02020603050405020304"/>
              <a:buNone/>
            </a:pPr>
            <a:endParaRPr sz="1800" b="0" i="0" u="none" strike="noStrike" cap="none">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p:txBody>
      </p:sp>
      <p:pic>
        <p:nvPicPr>
          <p:cNvPr id="208" name="Google Shape;208;p1"/>
          <p:cNvPicPr preferRelativeResize="0"/>
          <p:nvPr/>
        </p:nvPicPr>
        <p:blipFill rotWithShape="1">
          <a:blip r:embed="rId1"/>
          <a:srcRect/>
          <a:stretch>
            <a:fillRect/>
          </a:stretch>
        </p:blipFill>
        <p:spPr>
          <a:xfrm>
            <a:off x="367251" y="356884"/>
            <a:ext cx="1204743" cy="1271390"/>
          </a:xfrm>
          <a:prstGeom prst="rect">
            <a:avLst/>
          </a:prstGeom>
          <a:noFill/>
          <a:ln>
            <a:noFill/>
          </a:ln>
        </p:spPr>
      </p:pic>
      <p:sp>
        <p:nvSpPr>
          <p:cNvPr id="209" name="Google Shape;209;p1"/>
          <p:cNvSpPr/>
          <p:nvPr/>
        </p:nvSpPr>
        <p:spPr>
          <a:xfrm>
            <a:off x="1727293" y="773113"/>
            <a:ext cx="8737414" cy="2655887"/>
          </a:xfrm>
          <a:prstGeom prst="rect">
            <a:avLst/>
          </a:prstGeom>
          <a:noFill/>
          <a:ln>
            <a:noFill/>
          </a:ln>
        </p:spPr>
        <p:txBody>
          <a:bodyPr spcFirstLastPara="1" wrap="square" lIns="90000" tIns="45000" rIns="90000" bIns="45000" anchor="b" anchorCtr="0">
            <a:noAutofit/>
          </a:bodyPr>
          <a:lstStyle/>
          <a:p>
            <a:pPr marL="0" marR="0" lvl="0" indent="0" rtl="0">
              <a:lnSpc>
                <a:spcPct val="100000"/>
              </a:lnSpc>
              <a:spcBef>
                <a:spcPts val="0"/>
              </a:spcBef>
              <a:spcAft>
                <a:spcPts val="0"/>
              </a:spcAft>
              <a:buClr>
                <a:srgbClr val="000000"/>
              </a:buClr>
              <a:buSzPts val="2800"/>
              <a:buFont typeface="Times New Roman" panose="02020603050405020304"/>
              <a:buNone/>
            </a:pPr>
            <a:r>
              <a:rPr lang="en-US" sz="2800" b="1" i="0" u="none" strike="noStrike" cap="none" dirty="0">
                <a:solidFill>
                  <a:srgbClr val="002060"/>
                </a:solidFill>
                <a:latin typeface="Times New Roman" panose="02020603050405020304" pitchFamily="18" charset="0"/>
                <a:cs typeface="Times New Roman" panose="02020603050405020304" pitchFamily="18" charset="0"/>
                <a:sym typeface="Arial" panose="020B0604020202020204"/>
              </a:rPr>
              <a:t>K.RAMAKRISHNAN COLLEGE OF ENGINEERING</a:t>
            </a:r>
            <a:endParaRPr sz="1800" b="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ctr" rtl="0">
              <a:lnSpc>
                <a:spcPct val="100000"/>
              </a:lnSpc>
              <a:spcBef>
                <a:spcPts val="0"/>
              </a:spcBef>
              <a:spcAft>
                <a:spcPts val="0"/>
              </a:spcAft>
              <a:buClr>
                <a:srgbClr val="000000"/>
              </a:buClr>
              <a:buSzPts val="1800"/>
              <a:buFont typeface="Times New Roman" panose="02020603050405020304"/>
              <a:buNone/>
            </a:pPr>
            <a:r>
              <a:rPr lang="en-US" sz="1800" b="1" i="0" u="none" strike="noStrike" cap="none" dirty="0">
                <a:solidFill>
                  <a:srgbClr val="FF0066"/>
                </a:solidFill>
                <a:latin typeface="Times New Roman" panose="02020603050405020304" pitchFamily="18" charset="0"/>
                <a:cs typeface="Times New Roman" panose="02020603050405020304" pitchFamily="18" charset="0"/>
                <a:sym typeface="Arial" panose="020B0604020202020204"/>
              </a:rPr>
              <a:t>(AUTONOMOUS)</a:t>
            </a:r>
            <a:endParaRPr sz="1800" b="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ctr" rtl="0">
              <a:lnSpc>
                <a:spcPct val="100000"/>
              </a:lnSpc>
              <a:spcBef>
                <a:spcPts val="0"/>
              </a:spcBef>
              <a:spcAft>
                <a:spcPts val="0"/>
              </a:spcAft>
              <a:buClr>
                <a:srgbClr val="000000"/>
              </a:buClr>
              <a:buSzPts val="1800"/>
              <a:buFont typeface="Times New Roman" panose="02020603050405020304"/>
              <a:buNone/>
            </a:pPr>
            <a:endParaRPr lang="en-GB" sz="1800" b="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algn="ctr">
              <a:spcAft>
                <a:spcPts val="200"/>
              </a:spcAft>
            </a:pPr>
            <a:r>
              <a:rPr lang="en-GB" sz="1800" b="1" dirty="0">
                <a:solidFill>
                  <a:srgbClr val="070707"/>
                </a:solidFill>
                <a:latin typeface="Times New Roman" panose="02020603050405020304" pitchFamily="18" charset="0"/>
                <a:cs typeface="Times New Roman" panose="02020603050405020304" pitchFamily="18" charset="0"/>
              </a:rPr>
              <a:t>EC</a:t>
            </a:r>
            <a:r>
              <a:rPr lang="en-US" altLang="en-GB" sz="1800" b="1" dirty="0">
                <a:solidFill>
                  <a:srgbClr val="070707"/>
                </a:solidFill>
                <a:latin typeface="Times New Roman" panose="02020603050405020304" pitchFamily="18" charset="0"/>
                <a:cs typeface="Times New Roman" panose="02020603050405020304" pitchFamily="18" charset="0"/>
              </a:rPr>
              <a:t>C1394</a:t>
            </a:r>
            <a:endParaRPr lang="en-GB" sz="1800" b="1" dirty="0">
              <a:solidFill>
                <a:srgbClr val="070707"/>
              </a:solidFill>
              <a:latin typeface="Times New Roman" panose="02020603050405020304" pitchFamily="18" charset="0"/>
              <a:cs typeface="Times New Roman" panose="02020603050405020304" pitchFamily="18" charset="0"/>
            </a:endParaRPr>
          </a:p>
          <a:p>
            <a:pPr algn="ctr">
              <a:spcAft>
                <a:spcPts val="200"/>
              </a:spcAft>
            </a:pPr>
            <a:r>
              <a:rPr lang="en-GB" sz="1800" b="1" dirty="0">
                <a:solidFill>
                  <a:srgbClr val="FF0000"/>
                </a:solidFill>
                <a:latin typeface="Times New Roman" panose="02020603050405020304" pitchFamily="18" charset="0"/>
                <a:cs typeface="Times New Roman" panose="02020603050405020304" pitchFamily="18" charset="0"/>
              </a:rPr>
              <a:t> </a:t>
            </a:r>
            <a:r>
              <a:rPr lang="en-US" altLang="en-GB" sz="1800" b="1" dirty="0">
                <a:solidFill>
                  <a:srgbClr val="FF0000"/>
                </a:solidFill>
                <a:latin typeface="Times New Roman" panose="02020603050405020304" pitchFamily="18" charset="0"/>
                <a:cs typeface="Times New Roman" panose="02020603050405020304" pitchFamily="18" charset="0"/>
              </a:rPr>
              <a:t>SIGNAL PROCESSING FOR mmWAVE COMMUNICATION</a:t>
            </a:r>
            <a:endParaRPr lang="en-GB" sz="1800" b="1" dirty="0">
              <a:solidFill>
                <a:srgbClr val="FF0000"/>
              </a:solidFill>
              <a:latin typeface="Times New Roman" panose="02020603050405020304" pitchFamily="18" charset="0"/>
              <a:cs typeface="Times New Roman" panose="02020603050405020304" pitchFamily="18" charset="0"/>
            </a:endParaRPr>
          </a:p>
          <a:p>
            <a:pPr algn="ctr">
              <a:spcAft>
                <a:spcPts val="200"/>
              </a:spcAft>
            </a:pPr>
            <a:endParaRPr sz="1800" b="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algn="ctr"/>
            <a:r>
              <a:rPr lang="en-IN" sz="2400" b="1" dirty="0">
                <a:solidFill>
                  <a:schemeClr val="tx1"/>
                </a:solidFill>
                <a:latin typeface="Times New Roman" panose="02020603050405020304" pitchFamily="18" charset="0"/>
                <a:cs typeface="Times New Roman" panose="02020603050405020304" pitchFamily="18" charset="0"/>
              </a:rPr>
              <a:t>ADAPTIVE DIGITAL CALIBRATION FRAMEWORK FOR MMWAVE SYSTEMS USING LEAST SQUARES ESTIMATION</a:t>
            </a:r>
            <a:endParaRPr lang="en-IN" altLang="en-IN" sz="2400" b="1" i="1" dirty="0">
              <a:solidFill>
                <a:schemeClr val="tx1"/>
              </a:solidFill>
              <a:latin typeface="Times New Roman" panose="02020603050405020304" pitchFamily="18" charset="0"/>
              <a:cs typeface="Times New Roman" panose="02020603050405020304" pitchFamily="18" charset="0"/>
            </a:endParaRPr>
          </a:p>
        </p:txBody>
      </p:sp>
      <p:pic>
        <p:nvPicPr>
          <p:cNvPr id="210" name="Google Shape;210;p1" descr="A blue and white logo&#10;&#10;Description automatically generated"/>
          <p:cNvPicPr preferRelativeResize="0"/>
          <p:nvPr/>
        </p:nvPicPr>
        <p:blipFill rotWithShape="1">
          <a:blip r:embed="rId2"/>
          <a:srcRect/>
          <a:stretch>
            <a:fillRect/>
          </a:stretch>
        </p:blipFill>
        <p:spPr>
          <a:xfrm>
            <a:off x="10282170" y="318725"/>
            <a:ext cx="1811291" cy="1309549"/>
          </a:xfrm>
          <a:prstGeom prst="rect">
            <a:avLst/>
          </a:prstGeom>
          <a:noFill/>
          <a:ln>
            <a:noFill/>
          </a:ln>
        </p:spPr>
      </p:pic>
      <p:sp>
        <p:nvSpPr>
          <p:cNvPr id="4" name="Date Placeholder 3"/>
          <p:cNvSpPr>
            <a:spLocks noGrp="1"/>
          </p:cNvSpPr>
          <p:nvPr>
            <p:ph type="dt" idx="10"/>
          </p:nvPr>
        </p:nvSpPr>
        <p:spPr/>
        <p:txBody>
          <a:bodyPr/>
          <a:lstStyle/>
          <a:p>
            <a:fld id="{B9706CE7-841C-46A1-BDF7-4DE3C10FEDAA}" type="datetime3">
              <a:rPr lang="en-US" smtClean="0"/>
            </a:fld>
            <a:endParaRPr lang="en-US" dirty="0"/>
          </a:p>
        </p:txBody>
      </p:sp>
      <p:sp>
        <p:nvSpPr>
          <p:cNvPr id="5" name="Slide Number Placeholder 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2" name="Text Box 1"/>
          <p:cNvSpPr txBox="1"/>
          <p:nvPr/>
        </p:nvSpPr>
        <p:spPr>
          <a:xfrm>
            <a:off x="594995" y="4418330"/>
            <a:ext cx="4968875" cy="1227455"/>
          </a:xfrm>
          <a:prstGeom prst="rect">
            <a:avLst/>
          </a:prstGeom>
        </p:spPr>
        <p:txBody>
          <a:bodyPr>
            <a:noAutofit/>
          </a:bodyPr>
          <a:p>
            <a:pPr algn="just" fontAlgn="base">
              <a:lnSpc>
                <a:spcPct val="150000"/>
              </a:lnSpc>
              <a:spcBef>
                <a:spcPct val="0"/>
              </a:spcBef>
              <a:spcAft>
                <a:spcPct val="0"/>
              </a:spcAft>
            </a:pPr>
            <a:r>
              <a:rPr lang="en-US" altLang="zh-CN" sz="1600" b="1" i="0">
                <a:solidFill>
                  <a:srgbClr val="000000"/>
                </a:solidFill>
                <a:latin typeface="Times New Roman" panose="02020603050405020304"/>
                <a:ea typeface="Times New Roman" panose="02020603050405020304"/>
              </a:rPr>
              <a:t>   GUIDED BY</a:t>
            </a:r>
            <a:endParaRPr lang="en-US" altLang="zh-CN" sz="1600" b="1" i="0">
              <a:solidFill>
                <a:srgbClr val="000000"/>
              </a:solidFill>
              <a:latin typeface="Times New Roman" panose="02020603050405020304"/>
              <a:ea typeface="Times New Roman" panose="02020603050405020304"/>
            </a:endParaRPr>
          </a:p>
          <a:p>
            <a:pPr algn="just" fontAlgn="base">
              <a:lnSpc>
                <a:spcPct val="150000"/>
              </a:lnSpc>
              <a:spcBef>
                <a:spcPct val="0"/>
              </a:spcBef>
              <a:spcAft>
                <a:spcPct val="0"/>
              </a:spcAft>
            </a:pPr>
            <a:r>
              <a:rPr lang="en-US" altLang="zh-CN" sz="1600" b="1" i="0">
                <a:solidFill>
                  <a:srgbClr val="000000"/>
                </a:solidFill>
                <a:latin typeface="Times New Roman" panose="02020603050405020304"/>
                <a:ea typeface="Times New Roman" panose="02020603050405020304"/>
              </a:rPr>
              <a:t>  </a:t>
            </a:r>
            <a:r>
              <a:rPr lang="en-US" altLang="zh-CN" sz="1600" b="0" i="0">
                <a:solidFill>
                  <a:srgbClr val="000000"/>
                </a:solidFill>
                <a:latin typeface="Times New Roman" panose="02020603050405020304"/>
                <a:ea typeface="Times New Roman" panose="02020603050405020304"/>
              </a:rPr>
              <a:t> Mrs.S.JANUPRIYA M.Tech.,(Ph.D),</a:t>
            </a:r>
            <a:endParaRPr lang="en-US" altLang="zh-CN" sz="1600" b="0" i="0">
              <a:solidFill>
                <a:srgbClr val="000000"/>
              </a:solidFill>
              <a:latin typeface="Times New Roman" panose="02020603050405020304"/>
              <a:ea typeface="Times New Roman" panose="02020603050405020304"/>
            </a:endParaRPr>
          </a:p>
          <a:p>
            <a:pPr algn="just" fontAlgn="base">
              <a:lnSpc>
                <a:spcPct val="150000"/>
              </a:lnSpc>
              <a:spcBef>
                <a:spcPct val="0"/>
              </a:spcBef>
              <a:spcAft>
                <a:spcPct val="0"/>
              </a:spcAft>
            </a:pPr>
            <a:r>
              <a:rPr lang="en-US" altLang="zh-CN" sz="1600" b="0" i="0">
                <a:solidFill>
                  <a:srgbClr val="000000"/>
                </a:solidFill>
                <a:latin typeface="Times New Roman" panose="02020603050405020304"/>
                <a:ea typeface="Times New Roman" panose="02020603050405020304"/>
              </a:rPr>
              <a:t>   ASSISTANT PROFESSOR</a:t>
            </a:r>
            <a:endParaRPr lang="en-US" altLang="zh-CN" sz="1600" b="0" i="0">
              <a:solidFill>
                <a:srgbClr val="000000"/>
              </a:solidFill>
              <a:latin typeface="Times New Roman" panose="02020603050405020304"/>
              <a:ea typeface="Times New Roman" panose="02020603050405020304"/>
            </a:endParaRPr>
          </a:p>
          <a:p>
            <a:pPr algn="just" fontAlgn="base">
              <a:lnSpc>
                <a:spcPct val="150000"/>
              </a:lnSpc>
              <a:spcBef>
                <a:spcPct val="0"/>
              </a:spcBef>
              <a:spcAft>
                <a:spcPct val="0"/>
              </a:spcAft>
            </a:pPr>
            <a:r>
              <a:rPr lang="en-US" altLang="zh-CN" sz="1600" b="0" i="0">
                <a:solidFill>
                  <a:srgbClr val="000000"/>
                </a:solidFill>
                <a:latin typeface="Times New Roman" panose="02020603050405020304"/>
                <a:ea typeface="Times New Roman" panose="02020603050405020304"/>
              </a:rPr>
              <a:t>   ECE / KRCE</a:t>
            </a:r>
            <a:endParaRPr lang="en-US" altLang="zh-CN" sz="1600" b="0" i="0">
              <a:solidFill>
                <a:srgbClr val="000000"/>
              </a:solidFill>
              <a:latin typeface="Times New Roman" panose="02020603050405020304"/>
              <a:ea typeface="Times New Roman" panose="020206030504050203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
          <p:cNvSpPr/>
          <p:nvPr/>
        </p:nvSpPr>
        <p:spPr>
          <a:xfrm>
            <a:off x="2213708" y="535653"/>
            <a:ext cx="6934200" cy="9528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GB" sz="3200" b="1" i="0" strike="noStrike" cap="none" dirty="0">
                <a:solidFill>
                  <a:srgbClr val="FF0000"/>
                </a:solidFill>
                <a:latin typeface="Times New Roman" panose="02020603050405020304" pitchFamily="18" charset="0"/>
                <a:cs typeface="Times New Roman" panose="02020603050405020304" pitchFamily="18" charset="0"/>
                <a:sym typeface="Arial" panose="020B0604020202020204"/>
              </a:rPr>
              <a:t>CONTENTS</a:t>
            </a:r>
            <a:endParaRPr sz="3200" b="1" i="0" strike="noStrike" cap="none" dirty="0">
              <a:solidFill>
                <a:srgbClr val="FF0000"/>
              </a:solidFill>
              <a:latin typeface="Times New Roman" panose="02020603050405020304" pitchFamily="18" charset="0"/>
              <a:cs typeface="Times New Roman" panose="02020603050405020304" pitchFamily="18" charset="0"/>
              <a:sym typeface="Arial" panose="020B0604020202020204"/>
            </a:endParaRPr>
          </a:p>
        </p:txBody>
      </p:sp>
      <p:pic>
        <p:nvPicPr>
          <p:cNvPr id="219" name="Google Shape;219;p3"/>
          <p:cNvPicPr preferRelativeResize="0"/>
          <p:nvPr/>
        </p:nvPicPr>
        <p:blipFill rotWithShape="1">
          <a:blip r:embed="rId1"/>
          <a:srcRect/>
          <a:stretch>
            <a:fillRect/>
          </a:stretch>
        </p:blipFill>
        <p:spPr>
          <a:xfrm>
            <a:off x="488005" y="197797"/>
            <a:ext cx="1066800" cy="1057275"/>
          </a:xfrm>
          <a:prstGeom prst="rect">
            <a:avLst/>
          </a:prstGeom>
          <a:noFill/>
          <a:ln>
            <a:noFill/>
          </a:ln>
        </p:spPr>
      </p:pic>
      <p:pic>
        <p:nvPicPr>
          <p:cNvPr id="220" name="Google Shape;220;p3" descr="A blue and white logo&#10;&#10;Description automatically generated"/>
          <p:cNvPicPr preferRelativeResize="0"/>
          <p:nvPr/>
        </p:nvPicPr>
        <p:blipFill rotWithShape="1">
          <a:blip r:embed="rId2"/>
          <a:srcRect/>
          <a:stretch>
            <a:fillRect/>
          </a:stretch>
        </p:blipFill>
        <p:spPr>
          <a:xfrm>
            <a:off x="10461254" y="309823"/>
            <a:ext cx="1510596" cy="1092149"/>
          </a:xfrm>
          <a:prstGeom prst="rect">
            <a:avLst/>
          </a:prstGeom>
          <a:noFill/>
          <a:ln>
            <a:noFill/>
          </a:ln>
        </p:spPr>
      </p:pic>
      <p:sp>
        <p:nvSpPr>
          <p:cNvPr id="221" name="Google Shape;221;p3"/>
          <p:cNvSpPr txBox="1"/>
          <p:nvPr/>
        </p:nvSpPr>
        <p:spPr>
          <a:xfrm>
            <a:off x="4211052" y="1255072"/>
            <a:ext cx="4812632" cy="4927678"/>
          </a:xfrm>
          <a:prstGeom prst="rect">
            <a:avLst/>
          </a:prstGeom>
          <a:noFill/>
          <a:ln>
            <a:noFill/>
          </a:ln>
        </p:spPr>
        <p:txBody>
          <a:bodyPr spcFirstLastPara="1" wrap="square" lIns="91425" tIns="45700" rIns="91425" bIns="45700" anchor="t" anchorCtr="0">
            <a:noAutofit/>
          </a:bodyPr>
          <a:lstStyle/>
          <a:p>
            <a:pPr marL="342900" indent="-342900">
              <a:lnSpc>
                <a:spcPct val="150000"/>
              </a:lnSpc>
              <a:buFont typeface="Wingdings" panose="05000000000000000000" pitchFamily="2" charset="2"/>
              <a:buChar char="Ø"/>
            </a:pPr>
            <a:r>
              <a:rPr lang="en-GB" sz="2000" dirty="0">
                <a:effectLst/>
                <a:latin typeface="Times New Roman" panose="02020603050405020304" pitchFamily="18" charset="0"/>
                <a:cs typeface="Times New Roman" panose="02020603050405020304" pitchFamily="18" charset="0"/>
              </a:rPr>
              <a:t>ABSTRACT</a:t>
            </a:r>
            <a:endParaRPr lang="en-GB" sz="2000" dirty="0">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GB" sz="2000" dirty="0">
                <a:latin typeface="Times New Roman" panose="02020603050405020304" pitchFamily="18" charset="0"/>
                <a:cs typeface="Times New Roman" panose="02020603050405020304" pitchFamily="18" charset="0"/>
              </a:rPr>
              <a:t>INTRODUCTION</a:t>
            </a:r>
            <a:endParaRPr lang="en-GB"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GB" sz="2000" dirty="0">
                <a:effectLst/>
                <a:latin typeface="Times New Roman" panose="02020603050405020304" pitchFamily="18" charset="0"/>
                <a:cs typeface="Times New Roman" panose="02020603050405020304" pitchFamily="18" charset="0"/>
              </a:rPr>
              <a:t>PROBLEM STATEMENT</a:t>
            </a:r>
            <a:endParaRPr lang="en-GB" sz="2000" dirty="0">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GB" sz="2000" dirty="0">
                <a:latin typeface="Times New Roman" panose="02020603050405020304" pitchFamily="18" charset="0"/>
                <a:cs typeface="Times New Roman" panose="02020603050405020304" pitchFamily="18" charset="0"/>
              </a:rPr>
              <a:t>EXISTING SYSTEM</a:t>
            </a:r>
            <a:endParaRPr lang="en-GB"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GB" sz="2000" dirty="0">
                <a:effectLst/>
                <a:latin typeface="Times New Roman" panose="02020603050405020304" pitchFamily="18" charset="0"/>
                <a:cs typeface="Times New Roman" panose="02020603050405020304" pitchFamily="18" charset="0"/>
              </a:rPr>
              <a:t>PROPOSED SYSTEM</a:t>
            </a:r>
            <a:endParaRPr lang="en-GB" sz="2000" dirty="0">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GB" sz="2000" dirty="0">
                <a:latin typeface="Times New Roman" panose="02020603050405020304" pitchFamily="18" charset="0"/>
                <a:cs typeface="Times New Roman" panose="02020603050405020304" pitchFamily="18" charset="0"/>
              </a:rPr>
              <a:t>FLOW CHART</a:t>
            </a:r>
            <a:endParaRPr lang="en-GB"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en-GB" sz="2000" dirty="0">
                <a:latin typeface="Times New Roman" panose="02020603050405020304" pitchFamily="18" charset="0"/>
                <a:cs typeface="Times New Roman" panose="02020603050405020304" pitchFamily="18" charset="0"/>
              </a:rPr>
              <a:t>MODULES USED</a:t>
            </a:r>
            <a:endParaRPr lang="en-GB"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en-GB" sz="2000" dirty="0">
                <a:effectLst/>
                <a:latin typeface="Times New Roman" panose="02020603050405020304" pitchFamily="18" charset="0"/>
                <a:cs typeface="Times New Roman" panose="02020603050405020304" pitchFamily="18" charset="0"/>
              </a:rPr>
              <a:t>BLOCK DIAGRAM</a:t>
            </a:r>
            <a:endParaRPr lang="en-US" altLang="en-GB" sz="2000" dirty="0">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US" altLang="en-GB" sz="2000" dirty="0">
                <a:effectLst/>
                <a:latin typeface="Times New Roman" panose="02020603050405020304" pitchFamily="18" charset="0"/>
                <a:cs typeface="Times New Roman" panose="02020603050405020304" pitchFamily="18" charset="0"/>
              </a:rPr>
              <a:t>APPLICATIONS</a:t>
            </a:r>
            <a:endParaRPr lang="en-GB" sz="2000" dirty="0">
              <a:effectLst/>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GB" sz="2000" dirty="0">
                <a:latin typeface="Times New Roman" panose="02020603050405020304" pitchFamily="18" charset="0"/>
                <a:cs typeface="Times New Roman" panose="02020603050405020304" pitchFamily="18" charset="0"/>
              </a:rPr>
              <a:t>RESULTS AND DISCUSSION</a:t>
            </a:r>
            <a:endParaRPr lang="en-GB" sz="2000" dirty="0">
              <a:latin typeface="Times New Roman" panose="02020603050405020304" pitchFamily="18" charset="0"/>
              <a:cs typeface="Times New Roman" panose="02020603050405020304" pitchFamily="18" charset="0"/>
            </a:endParaRPr>
          </a:p>
          <a:p>
            <a:pPr marL="342900" indent="-342900">
              <a:lnSpc>
                <a:spcPct val="150000"/>
              </a:lnSpc>
              <a:buFont typeface="Wingdings" panose="05000000000000000000" pitchFamily="2" charset="2"/>
              <a:buChar char="Ø"/>
            </a:pPr>
            <a:r>
              <a:rPr lang="en-GB" sz="2000" dirty="0">
                <a:effectLst/>
                <a:latin typeface="Times New Roman" panose="02020603050405020304" pitchFamily="18" charset="0"/>
                <a:cs typeface="Times New Roman" panose="02020603050405020304" pitchFamily="18" charset="0"/>
              </a:rPr>
              <a:t>CONCLUSION AND FUTURE SCOPE</a:t>
            </a:r>
            <a:endParaRPr lang="en-IN" sz="2000" dirty="0">
              <a:effectLst/>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idx="10"/>
          </p:nvPr>
        </p:nvSpPr>
        <p:spPr/>
        <p:txBody>
          <a:bodyPr/>
          <a:lstStyle/>
          <a:p>
            <a:fld id="{61F8F029-F8CF-407B-98BA-8DB5D1A21009}" type="datetime3">
              <a:rPr lang="en-US" smtClean="0"/>
            </a:fld>
            <a:endParaRPr lang="en-US"/>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2"/>
          <p:cNvSpPr/>
          <p:nvPr/>
        </p:nvSpPr>
        <p:spPr>
          <a:xfrm>
            <a:off x="2528668" y="769034"/>
            <a:ext cx="6934200" cy="9528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GB" sz="3600" b="1" i="0" u="none" strike="noStrike" cap="none" dirty="0">
                <a:solidFill>
                  <a:srgbClr val="FF0066"/>
                </a:solidFill>
                <a:latin typeface="Times New Roman" panose="02020603050405020304" pitchFamily="18" charset="0"/>
                <a:cs typeface="Times New Roman" panose="02020603050405020304" pitchFamily="18" charset="0"/>
                <a:sym typeface="Arial" panose="020B0604020202020204"/>
              </a:rPr>
              <a:t>ABSTRACT</a:t>
            </a:r>
            <a:endParaRPr sz="3600" b="1" i="0" u="none" strike="noStrike" cap="none" dirty="0">
              <a:solidFill>
                <a:srgbClr val="FF0066"/>
              </a:solidFill>
              <a:latin typeface="Times New Roman" panose="02020603050405020304" pitchFamily="18" charset="0"/>
              <a:cs typeface="Times New Roman" panose="02020603050405020304" pitchFamily="18" charset="0"/>
              <a:sym typeface="Arial" panose="020B0604020202020204"/>
            </a:endParaRPr>
          </a:p>
        </p:txBody>
      </p:sp>
      <p:pic>
        <p:nvPicPr>
          <p:cNvPr id="214" name="Google Shape;214;p2"/>
          <p:cNvPicPr preferRelativeResize="0"/>
          <p:nvPr/>
        </p:nvPicPr>
        <p:blipFill rotWithShape="1">
          <a:blip r:embed="rId1"/>
          <a:srcRect/>
          <a:stretch>
            <a:fillRect/>
          </a:stretch>
        </p:blipFill>
        <p:spPr>
          <a:xfrm>
            <a:off x="488005" y="197797"/>
            <a:ext cx="1066800" cy="1057275"/>
          </a:xfrm>
          <a:prstGeom prst="rect">
            <a:avLst/>
          </a:prstGeom>
          <a:noFill/>
          <a:ln>
            <a:noFill/>
          </a:ln>
        </p:spPr>
      </p:pic>
      <p:pic>
        <p:nvPicPr>
          <p:cNvPr id="215" name="Google Shape;215;p2" descr="A blue and white logo&#10;&#10;Description automatically generated"/>
          <p:cNvPicPr preferRelativeResize="0"/>
          <p:nvPr/>
        </p:nvPicPr>
        <p:blipFill rotWithShape="1">
          <a:blip r:embed="rId2"/>
          <a:srcRect/>
          <a:stretch>
            <a:fillRect/>
          </a:stretch>
        </p:blipFill>
        <p:spPr>
          <a:xfrm>
            <a:off x="10461254" y="309823"/>
            <a:ext cx="1510596" cy="1092149"/>
          </a:xfrm>
          <a:prstGeom prst="rect">
            <a:avLst/>
          </a:prstGeom>
          <a:noFill/>
          <a:ln>
            <a:noFill/>
          </a:ln>
        </p:spPr>
      </p:pic>
      <p:sp>
        <p:nvSpPr>
          <p:cNvPr id="216" name="Google Shape;216;p2"/>
          <p:cNvSpPr txBox="1"/>
          <p:nvPr/>
        </p:nvSpPr>
        <p:spPr>
          <a:xfrm>
            <a:off x="474425" y="1721825"/>
            <a:ext cx="11042700" cy="4421700"/>
          </a:xfrm>
          <a:prstGeom prst="rect">
            <a:avLst/>
          </a:prstGeom>
          <a:noFill/>
          <a:ln>
            <a:noFill/>
          </a:ln>
        </p:spPr>
        <p:txBody>
          <a:bodyPr spcFirstLastPara="1" wrap="square" lIns="91425" tIns="45700" rIns="91425" bIns="45700" anchor="t" anchorCtr="0">
            <a:noAutofit/>
          </a:bodyPr>
          <a:lstStyle/>
          <a:p>
            <a:pPr lvl="0" algn="just" eaLnBrk="0" fontAlgn="base" hangingPunct="0">
              <a:lnSpc>
                <a:spcPct val="150000"/>
              </a:lnSpc>
              <a:spcBef>
                <a:spcPct val="0"/>
              </a:spcBef>
              <a:spcAft>
                <a:spcPct val="0"/>
              </a:spcAft>
              <a:buClrTx/>
            </a:pPr>
            <a:r>
              <a:rPr lang="en-US" altLang="en-US" sz="2400" dirty="0">
                <a:solidFill>
                  <a:schemeClr val="tx1"/>
                </a:solidFill>
                <a:latin typeface="Times New Roman" panose="02020603050405020304" pitchFamily="18" charset="0"/>
                <a:cs typeface="Times New Roman" panose="02020603050405020304" pitchFamily="18" charset="0"/>
              </a:rPr>
              <a:t>Millimeter wave (mmWave) communication systems are widely used in 5G and future 6G networks due to their high data rate capability. However, practical mmWave systems suffer from hardware impairments such as gain mismatch, phase offset, and I/Q imbalance, which degrade system performance. This project presents a software-based calibration approach using signal processing algorithms to estimate and compensate these impairments. Pilot-based least squares estimation is used for error correction, and system performance is evaluated using BER and constellation analysis. Simulation results show improved signal quality after calibration.</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idx="10"/>
          </p:nvPr>
        </p:nvSpPr>
        <p:spPr/>
        <p:txBody>
          <a:bodyPr/>
          <a:lstStyle/>
          <a:p>
            <a:fld id="{CB199E70-1826-4D8F-B8A2-7CEC291A38EA}" type="datetime3">
              <a:rPr lang="en-US" smtClean="0"/>
            </a:fld>
            <a:endParaRPr lang="en-US"/>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3"/>
          <p:cNvSpPr/>
          <p:nvPr/>
        </p:nvSpPr>
        <p:spPr>
          <a:xfrm>
            <a:off x="2213708" y="535653"/>
            <a:ext cx="6934200" cy="952800"/>
          </a:xfrm>
          <a:prstGeom prst="rect">
            <a:avLst/>
          </a:prstGeom>
          <a:noFill/>
          <a:ln>
            <a:noFill/>
          </a:ln>
        </p:spPr>
        <p:txBody>
          <a:bodyPr spcFirstLastPara="1" wrap="square" lIns="90000" tIns="45000" rIns="90000" bIns="45000" anchor="t" anchorCtr="0">
            <a:noAutofit/>
          </a:bodyPr>
          <a:lstStyle/>
          <a:p>
            <a:pPr marL="0" marR="0" lvl="0" indent="0" algn="ctr" rtl="0">
              <a:lnSpc>
                <a:spcPct val="100000"/>
              </a:lnSpc>
              <a:spcBef>
                <a:spcPts val="0"/>
              </a:spcBef>
              <a:spcAft>
                <a:spcPts val="0"/>
              </a:spcAft>
              <a:buClr>
                <a:srgbClr val="000000"/>
              </a:buClr>
              <a:buSzPts val="2800"/>
              <a:buFont typeface="Times New Roman" panose="02020603050405020304"/>
              <a:buNone/>
            </a:pPr>
            <a:r>
              <a:rPr lang="en-US" sz="3600" b="1" i="0" u="none" strike="noStrike" cap="none" dirty="0">
                <a:solidFill>
                  <a:srgbClr val="FF0066"/>
                </a:solidFill>
                <a:latin typeface="Times New Roman" panose="02020603050405020304" pitchFamily="18" charset="0"/>
                <a:cs typeface="Times New Roman" panose="02020603050405020304" pitchFamily="18" charset="0"/>
                <a:sym typeface="Arial" panose="020B0604020202020204"/>
              </a:rPr>
              <a:t>INTRODUCTION</a:t>
            </a:r>
            <a:endParaRPr sz="3600" b="1" i="0" u="none" strike="noStrike" cap="none" dirty="0">
              <a:solidFill>
                <a:srgbClr val="FF0066"/>
              </a:solidFill>
              <a:latin typeface="Times New Roman" panose="02020603050405020304" pitchFamily="18" charset="0"/>
              <a:cs typeface="Times New Roman" panose="02020603050405020304" pitchFamily="18" charset="0"/>
              <a:sym typeface="Arial" panose="020B0604020202020204"/>
            </a:endParaRPr>
          </a:p>
          <a:p>
            <a:pPr marL="0" marR="0" lvl="0" indent="0" algn="ctr" rtl="0">
              <a:lnSpc>
                <a:spcPct val="100000"/>
              </a:lnSpc>
              <a:spcBef>
                <a:spcPts val="0"/>
              </a:spcBef>
              <a:spcAft>
                <a:spcPts val="0"/>
              </a:spcAft>
              <a:buClr>
                <a:srgbClr val="000000"/>
              </a:buClr>
              <a:buSzPts val="2800"/>
              <a:buFont typeface="Times New Roman" panose="02020603050405020304"/>
              <a:buNone/>
            </a:pPr>
            <a:endParaRPr sz="3600" b="1" i="0" u="none" strike="noStrike" cap="none" dirty="0">
              <a:solidFill>
                <a:srgbClr val="FF0066"/>
              </a:solidFill>
              <a:latin typeface="Times New Roman" panose="02020603050405020304" pitchFamily="18" charset="0"/>
              <a:cs typeface="Times New Roman" panose="02020603050405020304" pitchFamily="18" charset="0"/>
              <a:sym typeface="Arial" panose="020B0604020202020204"/>
            </a:endParaRPr>
          </a:p>
        </p:txBody>
      </p:sp>
      <p:pic>
        <p:nvPicPr>
          <p:cNvPr id="219" name="Google Shape;219;p3"/>
          <p:cNvPicPr preferRelativeResize="0"/>
          <p:nvPr/>
        </p:nvPicPr>
        <p:blipFill rotWithShape="1">
          <a:blip r:embed="rId1"/>
          <a:srcRect/>
          <a:stretch>
            <a:fillRect/>
          </a:stretch>
        </p:blipFill>
        <p:spPr>
          <a:xfrm>
            <a:off x="488005" y="197797"/>
            <a:ext cx="1066800" cy="1057275"/>
          </a:xfrm>
          <a:prstGeom prst="rect">
            <a:avLst/>
          </a:prstGeom>
          <a:noFill/>
          <a:ln>
            <a:noFill/>
          </a:ln>
        </p:spPr>
      </p:pic>
      <p:pic>
        <p:nvPicPr>
          <p:cNvPr id="220" name="Google Shape;220;p3" descr="A blue and white logo&#10;&#10;Description automatically generated"/>
          <p:cNvPicPr preferRelativeResize="0"/>
          <p:nvPr/>
        </p:nvPicPr>
        <p:blipFill rotWithShape="1">
          <a:blip r:embed="rId2"/>
          <a:srcRect/>
          <a:stretch>
            <a:fillRect/>
          </a:stretch>
        </p:blipFill>
        <p:spPr>
          <a:xfrm>
            <a:off x="10461254" y="309823"/>
            <a:ext cx="1510596" cy="1092149"/>
          </a:xfrm>
          <a:prstGeom prst="rect">
            <a:avLst/>
          </a:prstGeom>
          <a:noFill/>
          <a:ln>
            <a:noFill/>
          </a:ln>
        </p:spPr>
      </p:pic>
      <p:sp>
        <p:nvSpPr>
          <p:cNvPr id="221" name="Google Shape;221;p3"/>
          <p:cNvSpPr txBox="1"/>
          <p:nvPr/>
        </p:nvSpPr>
        <p:spPr>
          <a:xfrm>
            <a:off x="574650" y="1858133"/>
            <a:ext cx="11042700" cy="3412413"/>
          </a:xfrm>
          <a:prstGeom prst="rect">
            <a:avLst/>
          </a:prstGeom>
          <a:noFill/>
          <a:ln>
            <a:noFill/>
          </a:ln>
        </p:spPr>
        <p:txBody>
          <a:bodyPr spcFirstLastPara="1" wrap="square" lIns="91425" tIns="45700" rIns="91425" bIns="45700" anchor="t" anchorCtr="0">
            <a:noAutofit/>
          </a:bodyPr>
          <a:lstStyle/>
          <a:p>
            <a:pPr algn="just">
              <a:lnSpc>
                <a:spcPct val="150000"/>
              </a:lnSpc>
            </a:pPr>
            <a:r>
              <a:rPr lang="en-US" altLang="en-US" sz="2400" dirty="0">
                <a:effectLst/>
                <a:latin typeface="Times New Roman" panose="02020603050405020304" pitchFamily="18" charset="0"/>
                <a:cs typeface="Times New Roman" panose="02020603050405020304" pitchFamily="18" charset="0"/>
              </a:rPr>
              <a:t>Millimeter wave communication operates at very high frequencies and is a key technology for modern wireless systems such as 5G and 6G. Due to hardware limitations and RF imperfections, mmWave systems experience performance degradation. Calibration is therefore essential to ensure accurate signal transmission and reception.This project focuses on software-based calibration, which reduces the need for expensive hardware solutions and improves system reliability using digital signal processing techniques.</a:t>
            </a:r>
            <a:endParaRPr lang="en-US" altLang="en-US" sz="2400" dirty="0">
              <a:effectLst/>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idx="10"/>
          </p:nvPr>
        </p:nvSpPr>
        <p:spPr/>
        <p:txBody>
          <a:bodyPr/>
          <a:lstStyle/>
          <a:p>
            <a:fld id="{61F8F029-F8CF-407B-98BA-8DB5D1A21009}" type="datetime3">
              <a:rPr lang="en-US" smtClean="0"/>
            </a:fld>
            <a:endParaRPr lang="en-US"/>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18"/>
          <p:cNvSpPr/>
          <p:nvPr/>
        </p:nvSpPr>
        <p:spPr>
          <a:xfrm>
            <a:off x="2540925" y="-57787"/>
            <a:ext cx="6934200" cy="1568400"/>
          </a:xfrm>
          <a:prstGeom prst="rect">
            <a:avLst/>
          </a:prstGeom>
          <a:noFill/>
          <a:ln>
            <a:noFill/>
          </a:ln>
        </p:spPr>
        <p:txBody>
          <a:bodyPr spcFirstLastPara="1" wrap="square" lIns="90000" tIns="45000" rIns="90000" bIns="45000" anchor="t" anchorCtr="0">
            <a:noAutofit/>
          </a:bodyPr>
          <a:lstStyle/>
          <a:p>
            <a:pPr marL="0" marR="0" lvl="0" indent="0" algn="ctr" rtl="0">
              <a:spcBef>
                <a:spcPts val="0"/>
              </a:spcBef>
              <a:spcAft>
                <a:spcPts val="0"/>
              </a:spcAft>
              <a:buClr>
                <a:srgbClr val="000000"/>
              </a:buClr>
              <a:buSzPts val="2400"/>
              <a:buFont typeface="Times New Roman" panose="02020603050405020304"/>
              <a:buNone/>
            </a:pPr>
            <a:r>
              <a:rPr lang="en-GB" sz="3600" b="1" i="0" u="none" strike="noStrike" cap="none" dirty="0">
                <a:solidFill>
                  <a:srgbClr val="0000FF"/>
                </a:solidFill>
                <a:latin typeface="Times New Roman" panose="02020603050405020304" pitchFamily="18" charset="0"/>
                <a:cs typeface="Times New Roman" panose="02020603050405020304" pitchFamily="18" charset="0"/>
                <a:sym typeface="Arial" panose="020B0604020202020204"/>
              </a:rPr>
              <a:t> </a:t>
            </a:r>
            <a:endParaRPr lang="en-GB" sz="3600" b="0" i="0" u="none" strike="noStrike" cap="none" dirty="0">
              <a:solidFill>
                <a:schemeClr val="dk1"/>
              </a:solidFill>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ctr" rtl="0">
              <a:spcBef>
                <a:spcPts val="0"/>
              </a:spcBef>
              <a:spcAft>
                <a:spcPts val="0"/>
              </a:spcAft>
              <a:buClr>
                <a:srgbClr val="000000"/>
              </a:buClr>
              <a:buSzPts val="2400"/>
              <a:buFont typeface="Times New Roman" panose="02020603050405020304"/>
              <a:buNone/>
            </a:pPr>
            <a:r>
              <a:rPr lang="en-GB" sz="3600" b="1" i="0" u="none" strike="noStrike" cap="none" dirty="0">
                <a:solidFill>
                  <a:srgbClr val="FF0066"/>
                </a:solidFill>
                <a:latin typeface="Times New Roman" panose="02020603050405020304" pitchFamily="18" charset="0"/>
                <a:cs typeface="Times New Roman" panose="02020603050405020304" pitchFamily="18" charset="0"/>
                <a:sym typeface="Arial" panose="020B0604020202020204"/>
              </a:rPr>
              <a:t>PROBLEM </a:t>
            </a:r>
            <a:r>
              <a:rPr lang="en-GB" sz="3600" b="1" dirty="0">
                <a:solidFill>
                  <a:srgbClr val="FF0066"/>
                </a:solidFill>
                <a:latin typeface="Times New Roman" panose="02020603050405020304" pitchFamily="18" charset="0"/>
                <a:cs typeface="Times New Roman" panose="02020603050405020304" pitchFamily="18" charset="0"/>
              </a:rPr>
              <a:t>STATEMENT</a:t>
            </a:r>
            <a:endParaRPr lang="en-GB" sz="3600" b="1" i="0" u="none" strike="noStrike" cap="none" dirty="0">
              <a:solidFill>
                <a:srgbClr val="FF0066"/>
              </a:solidFill>
              <a:latin typeface="Times New Roman" panose="02020603050405020304" pitchFamily="18" charset="0"/>
              <a:cs typeface="Times New Roman" panose="02020603050405020304" pitchFamily="18" charset="0"/>
              <a:sym typeface="Arial" panose="020B0604020202020204"/>
            </a:endParaRPr>
          </a:p>
        </p:txBody>
      </p:sp>
      <p:pic>
        <p:nvPicPr>
          <p:cNvPr id="132" name="Google Shape;132;p18"/>
          <p:cNvPicPr preferRelativeResize="0"/>
          <p:nvPr/>
        </p:nvPicPr>
        <p:blipFill rotWithShape="1">
          <a:blip r:embed="rId1"/>
          <a:srcRect/>
          <a:stretch>
            <a:fillRect/>
          </a:stretch>
        </p:blipFill>
        <p:spPr>
          <a:xfrm>
            <a:off x="488005" y="197797"/>
            <a:ext cx="1066800" cy="1057275"/>
          </a:xfrm>
          <a:prstGeom prst="rect">
            <a:avLst/>
          </a:prstGeom>
          <a:noFill/>
          <a:ln>
            <a:noFill/>
          </a:ln>
        </p:spPr>
      </p:pic>
      <p:pic>
        <p:nvPicPr>
          <p:cNvPr id="133" name="Google Shape;133;p18" descr="A blue and white logo&#10;&#10;Description automatically generated"/>
          <p:cNvPicPr preferRelativeResize="0"/>
          <p:nvPr/>
        </p:nvPicPr>
        <p:blipFill rotWithShape="1">
          <a:blip r:embed="rId2"/>
          <a:srcRect/>
          <a:stretch>
            <a:fillRect/>
          </a:stretch>
        </p:blipFill>
        <p:spPr>
          <a:xfrm>
            <a:off x="10461254" y="309823"/>
            <a:ext cx="1510596" cy="1092149"/>
          </a:xfrm>
          <a:prstGeom prst="rect">
            <a:avLst/>
          </a:prstGeom>
          <a:noFill/>
          <a:ln>
            <a:noFill/>
          </a:ln>
        </p:spPr>
      </p:pic>
      <p:sp>
        <p:nvSpPr>
          <p:cNvPr id="7" name="TextBox 6"/>
          <p:cNvSpPr txBox="1"/>
          <p:nvPr/>
        </p:nvSpPr>
        <p:spPr>
          <a:xfrm>
            <a:off x="847725" y="1642857"/>
            <a:ext cx="10506075" cy="3415030"/>
          </a:xfrm>
          <a:prstGeom prst="rect">
            <a:avLst/>
          </a:prstGeom>
          <a:noFill/>
        </p:spPr>
        <p:txBody>
          <a:bodyPr wrap="square">
            <a:spAutoFit/>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In practical mmWave communication systems, hardware impairments such as gain mismatch, phase errors, and I/Q imbalance cause signal distortion and beam misalignment. Traditional hardware-based calibration methods are costly and complex. There is a need for a low-cost, flexible, and software-based calibration technique that can effectively estimate and compensate these impairments to improve mmWave system performance.</a:t>
            </a:r>
            <a:endParaRPr lang="en-US" altLang="en-US" sz="2400" dirty="0">
              <a:latin typeface="Times New Roman" panose="02020603050405020304" pitchFamily="18" charset="0"/>
              <a:cs typeface="Times New Roman" panose="02020603050405020304" pitchFamily="18" charset="0"/>
            </a:endParaRPr>
          </a:p>
        </p:txBody>
      </p:sp>
      <p:sp>
        <p:nvSpPr>
          <p:cNvPr id="8" name="Date Placeholder 7"/>
          <p:cNvSpPr>
            <a:spLocks noGrp="1"/>
          </p:cNvSpPr>
          <p:nvPr>
            <p:ph type="dt" idx="10"/>
          </p:nvPr>
        </p:nvSpPr>
        <p:spPr/>
        <p:txBody>
          <a:bodyPr/>
          <a:lstStyle/>
          <a:p>
            <a:fld id="{38C34C1C-3CAF-4010-B438-3BD045B2B823}" type="datetime3">
              <a:rPr lang="en-US" smtClean="0"/>
            </a:fld>
            <a:endParaRPr lang="en-US"/>
          </a:p>
        </p:txBody>
      </p:sp>
      <p:sp>
        <p:nvSpPr>
          <p:cNvPr id="9" name="Slide Number Placeholder 8"/>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
          <p:cNvSpPr txBox="1">
            <a:spLocks noGrp="1"/>
          </p:cNvSpPr>
          <p:nvPr>
            <p:ph type="title" idx="4294967295"/>
          </p:nvPr>
        </p:nvSpPr>
        <p:spPr>
          <a:xfrm>
            <a:off x="1975098" y="309512"/>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0066"/>
              </a:buClr>
              <a:buSzPts val="3600"/>
              <a:buFont typeface="Arial" panose="020B0604020202020204"/>
              <a:buNone/>
            </a:pPr>
            <a:r>
              <a:rPr lang="en-GB" sz="3600" b="1" dirty="0">
                <a:solidFill>
                  <a:srgbClr val="FF0066"/>
                </a:solidFill>
                <a:latin typeface="Times New Roman" panose="02020603050405020304" pitchFamily="18" charset="0"/>
                <a:ea typeface="Arial" panose="020B0604020202020204"/>
                <a:cs typeface="Times New Roman" panose="02020603050405020304" pitchFamily="18" charset="0"/>
                <a:sym typeface="Arial" panose="020B0604020202020204"/>
              </a:rPr>
              <a:t>EXISTING SOLUTION</a:t>
            </a:r>
            <a:endParaRPr dirty="0">
              <a:latin typeface="Times New Roman" panose="02020603050405020304" pitchFamily="18" charset="0"/>
              <a:cs typeface="Times New Roman" panose="02020603050405020304" pitchFamily="18" charset="0"/>
            </a:endParaRPr>
          </a:p>
        </p:txBody>
      </p:sp>
      <p:pic>
        <p:nvPicPr>
          <p:cNvPr id="240" name="Google Shape;240;p2"/>
          <p:cNvPicPr preferRelativeResize="0"/>
          <p:nvPr/>
        </p:nvPicPr>
        <p:blipFill rotWithShape="1">
          <a:blip r:embed="rId1"/>
          <a:srcRect/>
          <a:stretch>
            <a:fillRect/>
          </a:stretch>
        </p:blipFill>
        <p:spPr>
          <a:xfrm>
            <a:off x="332362" y="360363"/>
            <a:ext cx="1066800" cy="1057275"/>
          </a:xfrm>
          <a:prstGeom prst="rect">
            <a:avLst/>
          </a:prstGeom>
          <a:noFill/>
          <a:ln>
            <a:noFill/>
          </a:ln>
        </p:spPr>
      </p:pic>
      <p:sp>
        <p:nvSpPr>
          <p:cNvPr id="241" name="Google Shape;241;p2"/>
          <p:cNvSpPr/>
          <p:nvPr/>
        </p:nvSpPr>
        <p:spPr>
          <a:xfrm>
            <a:off x="838200" y="1612933"/>
            <a:ext cx="10515600" cy="4531193"/>
          </a:xfrm>
          <a:prstGeom prst="rect">
            <a:avLst/>
          </a:prstGeom>
          <a:noFill/>
          <a:ln>
            <a:noFill/>
          </a:ln>
        </p:spPr>
        <p:txBody>
          <a:bodyPr spcFirstLastPara="1" wrap="square" lIns="91425" tIns="45700" rIns="91425" bIns="45700" anchor="t" anchorCtr="0">
            <a:noAutofit/>
          </a:bodyPr>
          <a:lstStyle/>
          <a:p>
            <a:pPr marL="0" indent="0" algn="just">
              <a:lnSpc>
                <a:spcPct val="150000"/>
              </a:lnSpc>
              <a:buNone/>
            </a:pPr>
            <a:r>
              <a:rPr lang="en-US" altLang="en-US" sz="2400" dirty="0">
                <a:latin typeface="Times New Roman" panose="02020603050405020304" pitchFamily="18" charset="0"/>
                <a:cs typeface="Times New Roman" panose="02020603050405020304" pitchFamily="18" charset="0"/>
              </a:rPr>
              <a:t>In existing mmWave systems, calibration is mostly performed using hardware components and manual tuning methods. These approaches increase system cost, complexity, and power consumption. Many systems do not provide real-time or adaptive calibration, leading to degraded performance under varying conditions. Additionally, traditional methods lack flexibility and scalability for future communication systems.</a:t>
            </a:r>
            <a:endParaRPr lang="en-US" altLang="en-US" sz="2400" dirty="0">
              <a:latin typeface="Times New Roman" panose="02020603050405020304" pitchFamily="18" charset="0"/>
              <a:cs typeface="Times New Roman" panose="02020603050405020304" pitchFamily="18" charset="0"/>
            </a:endParaRPr>
          </a:p>
        </p:txBody>
      </p:sp>
      <p:pic>
        <p:nvPicPr>
          <p:cNvPr id="242" name="Google Shape;242;p2" descr="A blue and white logo&#10;&#10;Description automatically generated"/>
          <p:cNvPicPr preferRelativeResize="0"/>
          <p:nvPr/>
        </p:nvPicPr>
        <p:blipFill rotWithShape="1">
          <a:blip r:embed="rId2"/>
          <a:srcRect/>
          <a:stretch>
            <a:fillRect/>
          </a:stretch>
        </p:blipFill>
        <p:spPr>
          <a:xfrm>
            <a:off x="10238936" y="360363"/>
            <a:ext cx="1510596" cy="1092149"/>
          </a:xfrm>
          <a:prstGeom prst="rect">
            <a:avLst/>
          </a:prstGeom>
          <a:noFill/>
          <a:ln>
            <a:noFill/>
          </a:ln>
        </p:spPr>
      </p:pic>
      <p:sp>
        <p:nvSpPr>
          <p:cNvPr id="243" name="Google Shape;243;p2"/>
          <p:cNvSpPr txBox="1"/>
          <p:nvPr/>
        </p:nvSpPr>
        <p:spPr>
          <a:xfrm>
            <a:off x="-6102" y="2718182"/>
            <a:ext cx="12192000" cy="6177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stStyle>
          <a:p>
            <a:pPr marL="0" lvl="0" indent="0" algn="l" rtl="0">
              <a:spcBef>
                <a:spcPts val="0"/>
              </a:spcBef>
              <a:spcAft>
                <a:spcPts val="0"/>
              </a:spcAft>
              <a:buNone/>
            </a:pPr>
            <a:endParaRPr sz="2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 name="Date Placeholder 4"/>
          <p:cNvSpPr>
            <a:spLocks noGrp="1"/>
          </p:cNvSpPr>
          <p:nvPr>
            <p:ph type="dt" idx="10"/>
          </p:nvPr>
        </p:nvSpPr>
        <p:spPr/>
        <p:txBody>
          <a:bodyPr/>
          <a:lstStyle/>
          <a:p>
            <a:fld id="{8E641C9C-206B-4C2A-9F66-2BE83B99D61D}" type="datetime3">
              <a:rPr lang="en-US" smtClean="0"/>
            </a:fld>
            <a:endParaRPr lang="en-US" dirty="0"/>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
          <p:cNvSpPr txBox="1">
            <a:spLocks noGrp="1"/>
          </p:cNvSpPr>
          <p:nvPr>
            <p:ph type="title" idx="4294967295"/>
          </p:nvPr>
        </p:nvSpPr>
        <p:spPr>
          <a:xfrm>
            <a:off x="1953064" y="541924"/>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0066"/>
              </a:buClr>
              <a:buSzPts val="3600"/>
              <a:buFont typeface="Arial" panose="020B0604020202020204"/>
              <a:buNone/>
            </a:pPr>
            <a:r>
              <a:rPr lang="en-US" sz="3600" b="1" dirty="0">
                <a:solidFill>
                  <a:srgbClr val="FF0066"/>
                </a:solidFill>
                <a:latin typeface="Times New Roman" panose="02020603050405020304" pitchFamily="18" charset="0"/>
                <a:ea typeface="Arial" panose="020B0604020202020204"/>
                <a:cs typeface="Times New Roman" panose="02020603050405020304" pitchFamily="18" charset="0"/>
                <a:sym typeface="Arial" panose="020B0604020202020204"/>
              </a:rPr>
              <a:t>PROPOSED SOLUTION</a:t>
            </a:r>
            <a:endParaRPr dirty="0">
              <a:latin typeface="Times New Roman" panose="02020603050405020304" pitchFamily="18" charset="0"/>
              <a:cs typeface="Times New Roman" panose="02020603050405020304" pitchFamily="18" charset="0"/>
            </a:endParaRPr>
          </a:p>
        </p:txBody>
      </p:sp>
      <p:pic>
        <p:nvPicPr>
          <p:cNvPr id="240" name="Google Shape;240;p2"/>
          <p:cNvPicPr preferRelativeResize="0"/>
          <p:nvPr/>
        </p:nvPicPr>
        <p:blipFill rotWithShape="1">
          <a:blip r:embed="rId1"/>
          <a:srcRect/>
          <a:stretch>
            <a:fillRect/>
          </a:stretch>
        </p:blipFill>
        <p:spPr>
          <a:xfrm>
            <a:off x="332362" y="360363"/>
            <a:ext cx="1066800" cy="1057275"/>
          </a:xfrm>
          <a:prstGeom prst="rect">
            <a:avLst/>
          </a:prstGeom>
          <a:noFill/>
          <a:ln>
            <a:noFill/>
          </a:ln>
        </p:spPr>
      </p:pic>
      <p:sp>
        <p:nvSpPr>
          <p:cNvPr id="241" name="Google Shape;241;p2"/>
          <p:cNvSpPr/>
          <p:nvPr/>
        </p:nvSpPr>
        <p:spPr>
          <a:xfrm>
            <a:off x="838200" y="1417955"/>
            <a:ext cx="10728325" cy="5077460"/>
          </a:xfrm>
          <a:prstGeom prst="rect">
            <a:avLst/>
          </a:prstGeom>
          <a:noFill/>
          <a:ln>
            <a:noFill/>
          </a:ln>
        </p:spPr>
        <p:txBody>
          <a:bodyPr spcFirstLastPara="1" wrap="square" lIns="91425" tIns="45700" rIns="91425" bIns="45700" anchor="t" anchorCtr="0">
            <a:noAutofit/>
          </a:bodyPr>
          <a:lstStyle/>
          <a:p>
            <a:pPr marL="457200" lvl="0" indent="-457200" eaLnBrk="0" fontAlgn="base" hangingPunct="0">
              <a:lnSpc>
                <a:spcPct val="25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The proposed system uses software-based calibration techniques to estimate and compensate mmWave hardware impairments.</a:t>
            </a:r>
            <a:endParaRPr lang="en-US" altLang="en-US" sz="2200" dirty="0">
              <a:solidFill>
                <a:schemeClr val="tx1"/>
              </a:solidFill>
              <a:latin typeface="Times New Roman" panose="02020603050405020304" pitchFamily="18" charset="0"/>
              <a:cs typeface="Times New Roman" panose="02020603050405020304" pitchFamily="18" charset="0"/>
            </a:endParaRPr>
          </a:p>
          <a:p>
            <a:pPr marL="457200" lvl="0" indent="-457200" eaLnBrk="0" fontAlgn="base" hangingPunct="0">
              <a:lnSpc>
                <a:spcPct val="25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Pilot-based signal transmissionLeast Squares (LS) estimation for error calculation</a:t>
            </a:r>
            <a:endParaRPr lang="en-US" altLang="en-US" sz="2200" dirty="0">
              <a:solidFill>
                <a:schemeClr val="tx1"/>
              </a:solidFill>
              <a:latin typeface="Times New Roman" panose="02020603050405020304" pitchFamily="18" charset="0"/>
              <a:cs typeface="Times New Roman" panose="02020603050405020304" pitchFamily="18" charset="0"/>
            </a:endParaRPr>
          </a:p>
          <a:p>
            <a:pPr marL="457200" lvl="0" indent="-457200" eaLnBrk="0" fontAlgn="base" hangingPunct="0">
              <a:lnSpc>
                <a:spcPct val="25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Digital compensation of gain, phase, and I/Q imbalance</a:t>
            </a:r>
            <a:endParaRPr lang="en-US" altLang="en-US" sz="2200" dirty="0">
              <a:solidFill>
                <a:schemeClr val="tx1"/>
              </a:solidFill>
              <a:latin typeface="Times New Roman" panose="02020603050405020304" pitchFamily="18" charset="0"/>
              <a:cs typeface="Times New Roman" panose="02020603050405020304" pitchFamily="18" charset="0"/>
            </a:endParaRPr>
          </a:p>
          <a:p>
            <a:pPr marL="457200" lvl="0" indent="-457200" eaLnBrk="0" fontAlgn="base" hangingPunct="0">
              <a:lnSpc>
                <a:spcPct val="250000"/>
              </a:lnSpc>
              <a:spcBef>
                <a:spcPct val="0"/>
              </a:spcBef>
              <a:spcAft>
                <a:spcPct val="0"/>
              </a:spcAft>
              <a:buClrTx/>
              <a:buFont typeface="+mj-lt"/>
              <a:buAutoNum type="arabicPeriod"/>
            </a:pPr>
            <a:r>
              <a:rPr lang="en-US" altLang="en-US" sz="2200" dirty="0">
                <a:solidFill>
                  <a:schemeClr val="tx1"/>
                </a:solidFill>
                <a:latin typeface="Times New Roman" panose="02020603050405020304" pitchFamily="18" charset="0"/>
                <a:cs typeface="Times New Roman" panose="02020603050405020304" pitchFamily="18" charset="0"/>
              </a:rPr>
              <a:t>Performance evaluation using BER and constellation plots</a:t>
            </a:r>
            <a:endParaRPr lang="en-US" altLang="en-US" sz="22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lnSpc>
                <a:spcPct val="250000"/>
              </a:lnSpc>
              <a:spcBef>
                <a:spcPct val="0"/>
              </a:spcBef>
              <a:spcAft>
                <a:spcPct val="0"/>
              </a:spcAft>
              <a:buClrTx/>
              <a:buFont typeface="+mj-lt"/>
              <a:buNone/>
            </a:pPr>
            <a:r>
              <a:rPr lang="en-US" altLang="en-US" sz="2200" dirty="0">
                <a:solidFill>
                  <a:schemeClr val="tx1"/>
                </a:solidFill>
                <a:latin typeface="Times New Roman" panose="02020603050405020304" pitchFamily="18" charset="0"/>
                <a:cs typeface="Times New Roman" panose="02020603050405020304" pitchFamily="18" charset="0"/>
              </a:rPr>
              <a:t>This approach eliminates additional hardware and improves system efficiency.</a:t>
            </a:r>
            <a:endParaRPr lang="en-US" altLang="en-US" sz="2200" dirty="0">
              <a:solidFill>
                <a:schemeClr val="tx1"/>
              </a:solidFill>
              <a:latin typeface="Times New Roman" panose="02020603050405020304" pitchFamily="18" charset="0"/>
              <a:cs typeface="Times New Roman" panose="02020603050405020304" pitchFamily="18" charset="0"/>
            </a:endParaRPr>
          </a:p>
        </p:txBody>
      </p:sp>
      <p:pic>
        <p:nvPicPr>
          <p:cNvPr id="242" name="Google Shape;242;p2" descr="A blue and white logo&#10;&#10;Description automatically generated"/>
          <p:cNvPicPr preferRelativeResize="0"/>
          <p:nvPr/>
        </p:nvPicPr>
        <p:blipFill rotWithShape="1">
          <a:blip r:embed="rId2"/>
          <a:srcRect/>
          <a:stretch>
            <a:fillRect/>
          </a:stretch>
        </p:blipFill>
        <p:spPr>
          <a:xfrm>
            <a:off x="10238936" y="360363"/>
            <a:ext cx="1510596" cy="1092149"/>
          </a:xfrm>
          <a:prstGeom prst="rect">
            <a:avLst/>
          </a:prstGeom>
          <a:noFill/>
          <a:ln>
            <a:noFill/>
          </a:ln>
        </p:spPr>
      </p:pic>
      <p:sp>
        <p:nvSpPr>
          <p:cNvPr id="243" name="Google Shape;243;p2"/>
          <p:cNvSpPr txBox="1"/>
          <p:nvPr/>
        </p:nvSpPr>
        <p:spPr>
          <a:xfrm>
            <a:off x="-6102" y="2718182"/>
            <a:ext cx="12192000" cy="6177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stStyle>
          <a:p>
            <a:pPr marL="0" lvl="0" indent="0" algn="l" rtl="0">
              <a:spcBef>
                <a:spcPts val="0"/>
              </a:spcBef>
              <a:spcAft>
                <a:spcPts val="0"/>
              </a:spcAft>
              <a:buNone/>
            </a:pPr>
            <a:endParaRPr sz="2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 name="Date Placeholder 4"/>
          <p:cNvSpPr>
            <a:spLocks noGrp="1"/>
          </p:cNvSpPr>
          <p:nvPr>
            <p:ph type="dt" idx="10"/>
          </p:nvPr>
        </p:nvSpPr>
        <p:spPr/>
        <p:txBody>
          <a:bodyPr/>
          <a:lstStyle/>
          <a:p>
            <a:fld id="{8E641C9C-206B-4C2A-9F66-2BE83B99D61D}" type="datetime3">
              <a:rPr lang="en-US" smtClean="0"/>
            </a:fld>
            <a:endParaRPr lang="en-US"/>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
          <p:cNvSpPr txBox="1">
            <a:spLocks noGrp="1"/>
          </p:cNvSpPr>
          <p:nvPr>
            <p:ph type="title" idx="4294967295"/>
          </p:nvPr>
        </p:nvSpPr>
        <p:spPr>
          <a:xfrm>
            <a:off x="2009336" y="168501"/>
            <a:ext cx="8229600" cy="944568"/>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0066"/>
              </a:buClr>
              <a:buSzPts val="3600"/>
              <a:buFont typeface="Arial" panose="020B0604020202020204"/>
              <a:buNone/>
            </a:pPr>
            <a:r>
              <a:rPr lang="en-US" sz="3600" b="1" dirty="0">
                <a:solidFill>
                  <a:srgbClr val="FF0066"/>
                </a:solidFill>
                <a:latin typeface="Times New Roman" panose="02020603050405020304" pitchFamily="18" charset="0"/>
                <a:ea typeface="Arial" panose="020B0604020202020204"/>
                <a:cs typeface="Times New Roman" panose="02020603050405020304" pitchFamily="18" charset="0"/>
                <a:sym typeface="Arial" panose="020B0604020202020204"/>
              </a:rPr>
              <a:t>FLOW CHART</a:t>
            </a:r>
            <a:endParaRPr dirty="0">
              <a:latin typeface="Times New Roman" panose="02020603050405020304" pitchFamily="18" charset="0"/>
              <a:cs typeface="Times New Roman" panose="02020603050405020304" pitchFamily="18" charset="0"/>
            </a:endParaRPr>
          </a:p>
        </p:txBody>
      </p:sp>
      <p:pic>
        <p:nvPicPr>
          <p:cNvPr id="240" name="Google Shape;240;p2"/>
          <p:cNvPicPr preferRelativeResize="0"/>
          <p:nvPr/>
        </p:nvPicPr>
        <p:blipFill rotWithShape="1">
          <a:blip r:embed="rId1"/>
          <a:srcRect/>
          <a:stretch>
            <a:fillRect/>
          </a:stretch>
        </p:blipFill>
        <p:spPr>
          <a:xfrm>
            <a:off x="332362" y="360363"/>
            <a:ext cx="1066800" cy="1057275"/>
          </a:xfrm>
          <a:prstGeom prst="rect">
            <a:avLst/>
          </a:prstGeom>
          <a:noFill/>
          <a:ln>
            <a:noFill/>
          </a:ln>
        </p:spPr>
      </p:pic>
      <p:pic>
        <p:nvPicPr>
          <p:cNvPr id="242" name="Google Shape;242;p2" descr="A blue and white logo&#10;&#10;Description automatically generated"/>
          <p:cNvPicPr preferRelativeResize="0"/>
          <p:nvPr/>
        </p:nvPicPr>
        <p:blipFill rotWithShape="1">
          <a:blip r:embed="rId2"/>
          <a:srcRect/>
          <a:stretch>
            <a:fillRect/>
          </a:stretch>
        </p:blipFill>
        <p:spPr>
          <a:xfrm>
            <a:off x="10238936" y="360363"/>
            <a:ext cx="1510596" cy="1092149"/>
          </a:xfrm>
          <a:prstGeom prst="rect">
            <a:avLst/>
          </a:prstGeom>
          <a:noFill/>
          <a:ln>
            <a:noFill/>
          </a:ln>
        </p:spPr>
      </p:pic>
      <p:sp>
        <p:nvSpPr>
          <p:cNvPr id="34" name="Date Placeholder 33"/>
          <p:cNvSpPr>
            <a:spLocks noGrp="1"/>
          </p:cNvSpPr>
          <p:nvPr>
            <p:ph type="dt" idx="10"/>
          </p:nvPr>
        </p:nvSpPr>
        <p:spPr>
          <a:xfrm>
            <a:off x="838200" y="6356350"/>
            <a:ext cx="2743200" cy="365125"/>
          </a:xfrm>
        </p:spPr>
        <p:txBody>
          <a:bodyPr/>
          <a:lstStyle/>
          <a:p>
            <a:fld id="{2D85ADA0-4A2C-452E-A1D4-3F0DCCF650D0}" type="datetime3">
              <a:rPr lang="en-US" smtClean="0"/>
            </a:fld>
            <a:endParaRPr lang="en-US"/>
          </a:p>
        </p:txBody>
      </p:sp>
      <p:sp>
        <p:nvSpPr>
          <p:cNvPr id="35" name="Slide Number Placeholder 34"/>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pic>
        <p:nvPicPr>
          <p:cNvPr id="2" name="Picture 1"/>
          <p:cNvPicPr/>
          <p:nvPr/>
        </p:nvPicPr>
        <p:blipFill>
          <a:blip r:embed="rId3">
            <a:extLst>
              <a:ext uri="{96DAC541-7B7A-43D3-8B79-37D633B846F1}">
                <asvg:svgBlip xmlns:asvg="http://schemas.microsoft.com/office/drawing/2016/SVG/main" r:embed="rId4"/>
              </a:ext>
            </a:extLst>
          </a:blip>
          <a:stretch>
            <a:fillRect/>
          </a:stretch>
        </p:blipFill>
        <p:spPr>
          <a:xfrm>
            <a:off x="5905500" y="3238500"/>
            <a:ext cx="381000" cy="381000"/>
          </a:xfrm>
          <a:prstGeom prst="rect">
            <a:avLst/>
          </a:prstGeom>
        </p:spPr>
      </p:pic>
      <p:pic>
        <p:nvPicPr>
          <p:cNvPr id="3" name="Picture 2"/>
          <p:cNvPicPr>
            <a:picLocks noChangeAspect="1"/>
          </p:cNvPicPr>
          <p:nvPr/>
        </p:nvPicPr>
        <p:blipFill>
          <a:blip r:embed="rId5"/>
          <a:stretch>
            <a:fillRect/>
          </a:stretch>
        </p:blipFill>
        <p:spPr>
          <a:xfrm>
            <a:off x="2348865" y="916940"/>
            <a:ext cx="7890510" cy="55835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
          <p:cNvSpPr txBox="1">
            <a:spLocks noGrp="1"/>
          </p:cNvSpPr>
          <p:nvPr>
            <p:ph type="title" idx="4294967295"/>
          </p:nvPr>
        </p:nvSpPr>
        <p:spPr>
          <a:xfrm>
            <a:off x="1953064" y="541924"/>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0066"/>
              </a:buClr>
              <a:buSzPts val="3600"/>
              <a:buFont typeface="Arial" panose="020B0604020202020204"/>
              <a:buNone/>
            </a:pPr>
            <a:r>
              <a:rPr lang="en-US" sz="3600" b="1" dirty="0">
                <a:solidFill>
                  <a:srgbClr val="FF0066"/>
                </a:solidFill>
                <a:latin typeface="Times New Roman" panose="02020603050405020304" pitchFamily="18" charset="0"/>
                <a:ea typeface="Arial" panose="020B0604020202020204"/>
                <a:cs typeface="Times New Roman" panose="02020603050405020304" pitchFamily="18" charset="0"/>
                <a:sym typeface="Arial" panose="020B0604020202020204"/>
              </a:rPr>
              <a:t>MODULES USED</a:t>
            </a:r>
            <a:endParaRPr dirty="0">
              <a:latin typeface="Times New Roman" panose="02020603050405020304" pitchFamily="18" charset="0"/>
              <a:cs typeface="Times New Roman" panose="02020603050405020304" pitchFamily="18" charset="0"/>
            </a:endParaRPr>
          </a:p>
        </p:txBody>
      </p:sp>
      <p:pic>
        <p:nvPicPr>
          <p:cNvPr id="240" name="Google Shape;240;p2"/>
          <p:cNvPicPr preferRelativeResize="0"/>
          <p:nvPr/>
        </p:nvPicPr>
        <p:blipFill rotWithShape="1">
          <a:blip r:embed="rId1"/>
          <a:srcRect/>
          <a:stretch>
            <a:fillRect/>
          </a:stretch>
        </p:blipFill>
        <p:spPr>
          <a:xfrm>
            <a:off x="332362" y="360363"/>
            <a:ext cx="1066800" cy="1057275"/>
          </a:xfrm>
          <a:prstGeom prst="rect">
            <a:avLst/>
          </a:prstGeom>
          <a:noFill/>
          <a:ln>
            <a:noFill/>
          </a:ln>
        </p:spPr>
      </p:pic>
      <p:pic>
        <p:nvPicPr>
          <p:cNvPr id="242" name="Google Shape;242;p2" descr="A blue and white logo&#10;&#10;Description automatically generated"/>
          <p:cNvPicPr preferRelativeResize="0"/>
          <p:nvPr/>
        </p:nvPicPr>
        <p:blipFill rotWithShape="1">
          <a:blip r:embed="rId2"/>
          <a:srcRect/>
          <a:stretch>
            <a:fillRect/>
          </a:stretch>
        </p:blipFill>
        <p:spPr>
          <a:xfrm>
            <a:off x="10238936" y="360363"/>
            <a:ext cx="1510596" cy="1092149"/>
          </a:xfrm>
          <a:prstGeom prst="rect">
            <a:avLst/>
          </a:prstGeom>
          <a:noFill/>
          <a:ln>
            <a:noFill/>
          </a:ln>
        </p:spPr>
      </p:pic>
      <p:sp>
        <p:nvSpPr>
          <p:cNvPr id="11" name="Subtitle 2"/>
          <p:cNvSpPr txBox="1"/>
          <p:nvPr/>
        </p:nvSpPr>
        <p:spPr>
          <a:xfrm>
            <a:off x="438148" y="3990975"/>
            <a:ext cx="8458201" cy="1600200"/>
          </a:xfrm>
          <a:prstGeom prst="rect">
            <a:avLst/>
          </a:prstGeom>
        </p:spPr>
        <p:txBody>
          <a:bodyPr vert="horz" lIns="91440" tIns="45720" rIns="91440" bIns="45720" rtlCol="0" anchor="t">
            <a:noAutofit/>
          </a:bodyPr>
          <a:lstStyle>
            <a:lvl1pPr marL="0" indent="0" algn="l" defTabSz="457200" rtl="0" eaLnBrk="1" latinLnBrk="0" hangingPunct="1">
              <a:spcBef>
                <a:spcPts val="1000"/>
              </a:spcBef>
              <a:spcAft>
                <a:spcPts val="0"/>
              </a:spcAft>
              <a:buClr>
                <a:schemeClr val="accent1"/>
              </a:buClr>
              <a:buFont typeface="Wingdings 3" panose="05040102010807070707" charset="2"/>
              <a:buNone/>
              <a:defRPr sz="1800" kern="1200">
                <a:solidFill>
                  <a:schemeClr val="tx1">
                    <a:lumMod val="65000"/>
                    <a:lumOff val="35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Font typeface="Wingdings 3" panose="05040102010807070707"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Font typeface="Wingdings 3" panose="05040102010807070707"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Font typeface="Wingdings 3" panose="05040102010807070707" charset="2"/>
              <a:buNone/>
              <a:defRPr sz="1200" kern="1200">
                <a:solidFill>
                  <a:schemeClr val="tx1">
                    <a:tint val="75000"/>
                  </a:schemeClr>
                </a:solidFill>
                <a:latin typeface="+mn-lt"/>
                <a:ea typeface="+mn-ea"/>
                <a:cs typeface="+mn-cs"/>
              </a:defRPr>
            </a:lvl9pPr>
          </a:lstStyle>
          <a:p>
            <a:pPr algn="just"/>
            <a:endParaRPr lang="en-GB" sz="2400" dirty="0">
              <a:solidFill>
                <a:srgbClr val="002060"/>
              </a:solidFill>
              <a:latin typeface="Times New Roman" panose="02020603050405020304" pitchFamily="18" charset="0"/>
              <a:cs typeface="Times New Roman" panose="02020603050405020304" pitchFamily="18" charset="0"/>
            </a:endParaRPr>
          </a:p>
        </p:txBody>
      </p:sp>
      <p:sp>
        <p:nvSpPr>
          <p:cNvPr id="5" name="Date Placeholder 4"/>
          <p:cNvSpPr>
            <a:spLocks noGrp="1"/>
          </p:cNvSpPr>
          <p:nvPr>
            <p:ph type="dt" idx="10"/>
          </p:nvPr>
        </p:nvSpPr>
        <p:spPr/>
        <p:txBody>
          <a:bodyPr/>
          <a:lstStyle/>
          <a:p>
            <a:fld id="{B411A345-88FC-44EA-9E15-082F58C634FC}" type="datetime3">
              <a:rPr lang="en-US" smtClean="0"/>
            </a:fld>
            <a:endParaRPr lang="en-US"/>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3" name="TextBox 2"/>
          <p:cNvSpPr txBox="1"/>
          <p:nvPr/>
        </p:nvSpPr>
        <p:spPr>
          <a:xfrm>
            <a:off x="838200" y="1492427"/>
            <a:ext cx="10515600" cy="5354320"/>
          </a:xfrm>
          <a:prstGeom prst="rect">
            <a:avLst/>
          </a:prstGeom>
          <a:noFill/>
        </p:spPr>
        <p:txBody>
          <a:bodyPr wrap="square">
            <a:spAutoFit/>
          </a:bodyPr>
          <a:lstStyle/>
          <a:p>
            <a:pPr marL="457200" marR="0" lvl="0" indent="-457200" algn="just" defTabSz="914400" rtl="0" eaLnBrk="0" fontAlgn="base" latinLnBrk="0" hangingPunct="0">
              <a:lnSpc>
                <a:spcPct val="200000"/>
              </a:lnSpc>
              <a:spcBef>
                <a:spcPct val="0"/>
              </a:spcBef>
              <a:spcAft>
                <a:spcPct val="0"/>
              </a:spcAft>
              <a:buClrTx/>
              <a:buSzTx/>
              <a:buFont typeface="+mj-lt"/>
              <a:buAutoNum type="arabicPeriod"/>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Generator: </a:t>
            </a:r>
            <a:endPar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 typeface="+mj-lt"/>
              <a:buNone/>
            </a:pP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data generator creates random binary data bits that act as the input to the communication system. These bits represent the information to be transmitted through the mmWave channel. The generated data is then forwarded to the modulation stage for signal conversion.</a:t>
            </a: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 typeface="+mj-lt"/>
              <a:buNone/>
            </a:pPr>
            <a:r>
              <a:rPr kumimoji="0" lang="en-US" altLang="en-US" sz="19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Modulation Module:</a:t>
            </a: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 typeface="+mj-lt"/>
              <a:buNone/>
            </a:pPr>
            <a:r>
              <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modulation module converts digital data into modulated symbols using techniques such as QPSK or QAM. This process helps in efficient transmission of data over wireless channels. Modulation improves bandwidth utilization and supports high-speed communication.</a:t>
            </a: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200000"/>
              </a:lnSpc>
              <a:spcBef>
                <a:spcPct val="0"/>
              </a:spcBef>
              <a:spcAft>
                <a:spcPct val="0"/>
              </a:spcAft>
              <a:buClrTx/>
              <a:buSzTx/>
              <a:buFont typeface="+mj-lt"/>
              <a:buNone/>
            </a:pPr>
            <a:endParaRPr kumimoji="0" lang="en-US" altLang="en-US" sz="19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idx="1"/>
          </p:nvPr>
        </p:nvSpPr>
        <p:spPr>
          <a:xfrm>
            <a:off x="569595" y="1452245"/>
            <a:ext cx="10784205" cy="4351655"/>
          </a:xfrm>
        </p:spPr>
        <p:txBody>
          <a:bodyPr>
            <a:normAutofit fontScale="25000"/>
          </a:bodyPr>
          <a:p>
            <a:pPr marL="114300" indent="0" algn="just">
              <a:lnSpc>
                <a:spcPct val="200000"/>
              </a:lnSpc>
              <a:buNone/>
            </a:pPr>
            <a:r>
              <a:rPr lang="en-US" altLang="en-US" sz="7600" b="1">
                <a:latin typeface="Times New Roman" panose="02020603050405020304" pitchFamily="18" charset="0"/>
                <a:cs typeface="Times New Roman" panose="02020603050405020304" pitchFamily="18" charset="0"/>
              </a:rPr>
              <a:t>3.</a:t>
            </a:r>
            <a:r>
              <a:rPr lang="en-US" altLang="en-US" sz="7600" b="1">
                <a:latin typeface="Times New Roman" panose="02020603050405020304" pitchFamily="18" charset="0"/>
                <a:cs typeface="Times New Roman" panose="02020603050405020304" pitchFamily="18" charset="0"/>
              </a:rPr>
              <a:t> mmWave Channel Model: </a:t>
            </a:r>
            <a:endParaRPr lang="en-US" altLang="en-US" sz="7600" b="1">
              <a:latin typeface="Times New Roman" panose="02020603050405020304" pitchFamily="18" charset="0"/>
              <a:cs typeface="Times New Roman" panose="02020603050405020304" pitchFamily="18" charset="0"/>
            </a:endParaRPr>
          </a:p>
          <a:p>
            <a:pPr marL="114300" indent="0" algn="just">
              <a:lnSpc>
                <a:spcPct val="200000"/>
              </a:lnSpc>
              <a:buNone/>
            </a:pPr>
            <a:r>
              <a:rPr lang="en-US" altLang="en-US" sz="7600" b="1">
                <a:latin typeface="Times New Roman" panose="02020603050405020304" pitchFamily="18" charset="0"/>
                <a:cs typeface="Times New Roman" panose="02020603050405020304" pitchFamily="18" charset="0"/>
              </a:rPr>
              <a:t>    </a:t>
            </a:r>
            <a:r>
              <a:rPr lang="en-US" altLang="en-US" sz="7600">
                <a:latin typeface="Times New Roman" panose="02020603050405020304" pitchFamily="18" charset="0"/>
                <a:cs typeface="Times New Roman" panose="02020603050405020304" pitchFamily="18" charset="0"/>
              </a:rPr>
              <a:t>The mmWave channel model simulates real wireless communication conditions. It introduces effects such as noise, path loss, and phase noise into the transmitted signal. This helps in analyzing system performance under practical channel environments.</a:t>
            </a:r>
            <a:endParaRPr lang="en-US" altLang="en-US" sz="7600" b="1">
              <a:latin typeface="Times New Roman" panose="02020603050405020304" pitchFamily="18" charset="0"/>
              <a:cs typeface="Times New Roman" panose="02020603050405020304" pitchFamily="18" charset="0"/>
            </a:endParaRPr>
          </a:p>
          <a:p>
            <a:pPr marL="114300" indent="0" algn="just">
              <a:lnSpc>
                <a:spcPct val="200000"/>
              </a:lnSpc>
              <a:buNone/>
            </a:pPr>
            <a:r>
              <a:rPr lang="en-US" altLang="en-US" sz="7600" b="1">
                <a:latin typeface="Times New Roman" panose="02020603050405020304" pitchFamily="18" charset="0"/>
                <a:cs typeface="Times New Roman" panose="02020603050405020304" pitchFamily="18" charset="0"/>
              </a:rPr>
              <a:t>4. Impairment Module:</a:t>
            </a:r>
            <a:r>
              <a:rPr lang="en-US" altLang="en-US" sz="7600">
                <a:latin typeface="Times New Roman" panose="02020603050405020304" pitchFamily="18" charset="0"/>
                <a:cs typeface="Times New Roman" panose="02020603050405020304" pitchFamily="18" charset="0"/>
              </a:rPr>
              <a:t> </a:t>
            </a:r>
            <a:endParaRPr lang="en-US" altLang="en-US" sz="7600">
              <a:latin typeface="Times New Roman" panose="02020603050405020304" pitchFamily="18" charset="0"/>
              <a:cs typeface="Times New Roman" panose="02020603050405020304" pitchFamily="18" charset="0"/>
            </a:endParaRPr>
          </a:p>
          <a:p>
            <a:pPr marL="114300" indent="0" algn="just">
              <a:lnSpc>
                <a:spcPct val="200000"/>
              </a:lnSpc>
              <a:buNone/>
            </a:pPr>
            <a:r>
              <a:rPr lang="en-US" altLang="en-US" sz="7600">
                <a:latin typeface="Times New Roman" panose="02020603050405020304" pitchFamily="18" charset="0"/>
                <a:cs typeface="Times New Roman" panose="02020603050405020304" pitchFamily="18" charset="0"/>
              </a:rPr>
              <a:t>    The impairment module introduces hardware imperfections into the signal. These impairments include gain mismatch, phase offset, and I/Q imbalance, which distort the transmitted signal. This stage helps in evaluating the effectiveness of the calibration process.</a:t>
            </a:r>
            <a:endParaRPr lang="en-US" altLang="en-US" sz="76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idx="10"/>
          </p:nvPr>
        </p:nvSpPr>
        <p:spPr/>
        <p:txBody>
          <a:bodyPr/>
          <a:p>
            <a:fld id="{933FE390-029F-41B1-8A2D-499709EBE988}" type="datetime3">
              <a:rPr lang="en-US" smtClean="0"/>
            </a:fld>
            <a:endParaRPr lang="en-US"/>
          </a:p>
        </p:txBody>
      </p:sp>
      <p:sp>
        <p:nvSpPr>
          <p:cNvPr id="5" name="Slide Number Placeholder 4"/>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pic>
        <p:nvPicPr>
          <p:cNvPr id="240" name="Google Shape;240;p2"/>
          <p:cNvPicPr preferRelativeResize="0"/>
          <p:nvPr/>
        </p:nvPicPr>
        <p:blipFill rotWithShape="1">
          <a:blip r:embed="rId1"/>
          <a:srcRect/>
          <a:stretch>
            <a:fillRect/>
          </a:stretch>
        </p:blipFill>
        <p:spPr>
          <a:xfrm>
            <a:off x="332362" y="360363"/>
            <a:ext cx="1066800" cy="1057275"/>
          </a:xfrm>
          <a:prstGeom prst="rect">
            <a:avLst/>
          </a:prstGeom>
          <a:noFill/>
          <a:ln>
            <a:noFill/>
          </a:ln>
        </p:spPr>
      </p:pic>
      <p:pic>
        <p:nvPicPr>
          <p:cNvPr id="242" name="Google Shape;242;p2" descr="A blue and white logo&#10;&#10;Description automatically generated"/>
          <p:cNvPicPr preferRelativeResize="0"/>
          <p:nvPr/>
        </p:nvPicPr>
        <p:blipFill rotWithShape="1">
          <a:blip r:embed="rId2"/>
          <a:srcRect/>
          <a:stretch>
            <a:fillRect/>
          </a:stretch>
        </p:blipFill>
        <p:spPr>
          <a:xfrm>
            <a:off x="10238936" y="360363"/>
            <a:ext cx="1510596" cy="1092149"/>
          </a:xfrm>
          <a:prstGeom prst="rect">
            <a:avLst/>
          </a:prstGeom>
          <a:noFill/>
          <a:ln>
            <a:noFill/>
          </a:ln>
        </p:spPr>
      </p:pic>
      <p:sp>
        <p:nvSpPr>
          <p:cNvPr id="6" name="Text Box 5"/>
          <p:cNvSpPr txBox="1"/>
          <p:nvPr/>
        </p:nvSpPr>
        <p:spPr>
          <a:xfrm>
            <a:off x="4180840" y="584200"/>
            <a:ext cx="4429760" cy="645160"/>
          </a:xfrm>
          <a:prstGeom prst="rect">
            <a:avLst/>
          </a:prstGeom>
          <a:noFill/>
        </p:spPr>
        <p:txBody>
          <a:bodyPr wrap="square" rtlCol="0" anchor="t">
            <a:spAutoFit/>
          </a:bodyPr>
          <a:p>
            <a:r>
              <a:rPr lang="en-US" sz="3600" b="1" dirty="0">
                <a:solidFill>
                  <a:srgbClr val="FF0066"/>
                </a:solidFill>
                <a:latin typeface="Times New Roman" panose="02020603050405020304" pitchFamily="18" charset="0"/>
                <a:cs typeface="Times New Roman" panose="02020603050405020304" pitchFamily="18" charset="0"/>
                <a:sym typeface="Arial" panose="020B0604020202020204"/>
              </a:rPr>
              <a:t>MODULES USED</a:t>
            </a:r>
            <a:endParaRPr lang="en-US" sz="3600" b="1" dirty="0">
              <a:solidFill>
                <a:srgbClr val="FF0066"/>
              </a:solidFill>
              <a:latin typeface="Times New Roman" panose="02020603050405020304" pitchFamily="18" charset="0"/>
              <a:cs typeface="Times New Roman" panose="02020603050405020304" pitchFamily="18" charset="0"/>
              <a:sym typeface="Arial" panose="020B06040202020202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Text Placeholder 2"/>
          <p:cNvSpPr>
            <a:spLocks noGrp="1"/>
          </p:cNvSpPr>
          <p:nvPr>
            <p:ph type="body" idx="1"/>
          </p:nvPr>
        </p:nvSpPr>
        <p:spPr/>
        <p:txBody>
          <a:bodyPr>
            <a:noAutofit/>
          </a:bodyPr>
          <a:p>
            <a:pPr marL="114300" indent="0" algn="just">
              <a:lnSpc>
                <a:spcPct val="150000"/>
              </a:lnSpc>
              <a:buNone/>
            </a:pPr>
            <a:r>
              <a:rPr lang="en-US" altLang="en-US" sz="1900" b="1">
                <a:latin typeface="Times New Roman" panose="02020603050405020304" pitchFamily="18" charset="0"/>
                <a:cs typeface="Times New Roman" panose="02020603050405020304" pitchFamily="18" charset="0"/>
              </a:rPr>
              <a:t>5. Pilot-Based Estimation &amp; Calibration Module: </a:t>
            </a:r>
            <a:endParaRPr lang="en-US" altLang="en-US" sz="1900" b="1">
              <a:latin typeface="Times New Roman" panose="02020603050405020304" pitchFamily="18" charset="0"/>
              <a:cs typeface="Times New Roman" panose="02020603050405020304" pitchFamily="18" charset="0"/>
            </a:endParaRPr>
          </a:p>
          <a:p>
            <a:pPr marL="114300" indent="0" algn="just">
              <a:lnSpc>
                <a:spcPct val="150000"/>
              </a:lnSpc>
              <a:buNone/>
            </a:pPr>
            <a:r>
              <a:rPr lang="en-US" altLang="en-US" sz="1900" b="1">
                <a:latin typeface="Times New Roman" panose="02020603050405020304" pitchFamily="18" charset="0"/>
                <a:cs typeface="Times New Roman" panose="02020603050405020304" pitchFamily="18" charset="0"/>
              </a:rPr>
              <a:t>     </a:t>
            </a:r>
            <a:r>
              <a:rPr lang="en-US" altLang="en-US" sz="1900">
                <a:latin typeface="Times New Roman" panose="02020603050405020304" pitchFamily="18" charset="0"/>
                <a:cs typeface="Times New Roman" panose="02020603050405020304" pitchFamily="18" charset="0"/>
              </a:rPr>
              <a:t>This module uses pilot signals and the Least Squares (LS) algorithm to estimate impairments present in the received signal. The estimated gain mismatch, phase offset, and I/Q imbalance are digitally compensated using calibration techniques. This process improves signal quality and reduces distortion.</a:t>
            </a:r>
            <a:endParaRPr lang="en-US" altLang="en-US" sz="1900">
              <a:latin typeface="Times New Roman" panose="02020603050405020304" pitchFamily="18" charset="0"/>
              <a:cs typeface="Times New Roman" panose="02020603050405020304" pitchFamily="18" charset="0"/>
            </a:endParaRPr>
          </a:p>
          <a:p>
            <a:pPr marL="114300" indent="0" algn="just">
              <a:lnSpc>
                <a:spcPct val="150000"/>
              </a:lnSpc>
              <a:buNone/>
            </a:pPr>
            <a:r>
              <a:rPr lang="en-US" altLang="en-US" sz="1900" b="1">
                <a:latin typeface="Times New Roman" panose="02020603050405020304" pitchFamily="18" charset="0"/>
                <a:cs typeface="Times New Roman" panose="02020603050405020304" pitchFamily="18" charset="0"/>
              </a:rPr>
              <a:t>6. Performance Evaluation Module: </a:t>
            </a:r>
            <a:endParaRPr lang="en-US" altLang="en-US" sz="1900" b="1">
              <a:latin typeface="Times New Roman" panose="02020603050405020304" pitchFamily="18" charset="0"/>
              <a:cs typeface="Times New Roman" panose="02020603050405020304" pitchFamily="18" charset="0"/>
            </a:endParaRPr>
          </a:p>
          <a:p>
            <a:pPr marL="114300" indent="0" algn="just">
              <a:lnSpc>
                <a:spcPct val="150000"/>
              </a:lnSpc>
              <a:buNone/>
            </a:pPr>
            <a:r>
              <a:rPr lang="en-US" altLang="en-US" sz="1900" b="1">
                <a:latin typeface="Times New Roman" panose="02020603050405020304" pitchFamily="18" charset="0"/>
                <a:cs typeface="Times New Roman" panose="02020603050405020304" pitchFamily="18" charset="0"/>
              </a:rPr>
              <a:t>     </a:t>
            </a:r>
            <a:r>
              <a:rPr lang="en-US" altLang="en-US" sz="1900">
                <a:latin typeface="Times New Roman" panose="02020603050405020304" pitchFamily="18" charset="0"/>
                <a:cs typeface="Times New Roman" panose="02020603050405020304" pitchFamily="18" charset="0"/>
              </a:rPr>
              <a:t>This module evaluates the overall system performance using parameters such as Bit Error Rate (BER) and constellation diagrams. The received signal before and after calibration is compared to measure improvement. The results confirm the effectiveness of the proposed calibration framework.</a:t>
            </a:r>
            <a:endParaRPr lang="en-US" altLang="en-US" sz="1900">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idx="10"/>
          </p:nvPr>
        </p:nvSpPr>
        <p:spPr/>
        <p:txBody>
          <a:bodyPr/>
          <a:p>
            <a:fld id="{933FE390-029F-41B1-8A2D-499709EBE988}" type="datetime3">
              <a:rPr lang="en-US" smtClean="0"/>
            </a:fld>
            <a:endParaRPr lang="en-US"/>
          </a:p>
        </p:txBody>
      </p:sp>
      <p:sp>
        <p:nvSpPr>
          <p:cNvPr id="5" name="Slide Number Placeholder 4"/>
          <p:cNvSpPr>
            <a:spLocks noGrp="1"/>
          </p:cNvSpPr>
          <p:nvPr>
            <p:ph type="sldNum" idx="12"/>
          </p:nvPr>
        </p:nvSpPr>
        <p:spPr/>
        <p:txBody>
          <a:bodyPr/>
          <a:p>
            <a:pPr marL="0" lvl="0" indent="0" algn="r" rtl="0">
              <a:spcBef>
                <a:spcPts val="0"/>
              </a:spcBef>
              <a:spcAft>
                <a:spcPts val="0"/>
              </a:spcAft>
              <a:buNone/>
            </a:pPr>
            <a:fld id="{00000000-1234-1234-1234-123412341234}" type="slidenum">
              <a:rPr lang="en-US"/>
            </a:fld>
            <a:endParaRPr lang="en-US"/>
          </a:p>
        </p:txBody>
      </p:sp>
      <p:pic>
        <p:nvPicPr>
          <p:cNvPr id="240" name="Google Shape;240;p2"/>
          <p:cNvPicPr preferRelativeResize="0"/>
          <p:nvPr/>
        </p:nvPicPr>
        <p:blipFill rotWithShape="1">
          <a:blip r:embed="rId1"/>
          <a:srcRect/>
          <a:stretch>
            <a:fillRect/>
          </a:stretch>
        </p:blipFill>
        <p:spPr>
          <a:xfrm>
            <a:off x="332362" y="360363"/>
            <a:ext cx="1066800" cy="1057275"/>
          </a:xfrm>
          <a:prstGeom prst="rect">
            <a:avLst/>
          </a:prstGeom>
          <a:noFill/>
          <a:ln>
            <a:noFill/>
          </a:ln>
        </p:spPr>
      </p:pic>
      <p:pic>
        <p:nvPicPr>
          <p:cNvPr id="242" name="Google Shape;242;p2" descr="A blue and white logo&#10;&#10;Description automatically generated"/>
          <p:cNvPicPr preferRelativeResize="0"/>
          <p:nvPr/>
        </p:nvPicPr>
        <p:blipFill rotWithShape="1">
          <a:blip r:embed="rId2"/>
          <a:srcRect/>
          <a:stretch>
            <a:fillRect/>
          </a:stretch>
        </p:blipFill>
        <p:spPr>
          <a:xfrm>
            <a:off x="10238936" y="360363"/>
            <a:ext cx="1510596" cy="1092149"/>
          </a:xfrm>
          <a:prstGeom prst="rect">
            <a:avLst/>
          </a:prstGeom>
          <a:noFill/>
          <a:ln>
            <a:noFill/>
          </a:ln>
        </p:spPr>
      </p:pic>
      <p:sp>
        <p:nvSpPr>
          <p:cNvPr id="6" name="Text Box 5"/>
          <p:cNvSpPr txBox="1"/>
          <p:nvPr/>
        </p:nvSpPr>
        <p:spPr>
          <a:xfrm>
            <a:off x="3712845" y="566420"/>
            <a:ext cx="4211320" cy="645160"/>
          </a:xfrm>
          <a:prstGeom prst="rect">
            <a:avLst/>
          </a:prstGeom>
          <a:noFill/>
        </p:spPr>
        <p:txBody>
          <a:bodyPr wrap="square" rtlCol="0" anchor="t">
            <a:spAutoFit/>
          </a:bodyPr>
          <a:p>
            <a:r>
              <a:rPr lang="en-US" sz="3600" b="1" dirty="0">
                <a:solidFill>
                  <a:srgbClr val="FF0066"/>
                </a:solidFill>
                <a:latin typeface="Times New Roman" panose="02020603050405020304" pitchFamily="18" charset="0"/>
                <a:cs typeface="Times New Roman" panose="02020603050405020304" pitchFamily="18" charset="0"/>
                <a:sym typeface="Arial" panose="020B0604020202020204"/>
              </a:rPr>
              <a:t>MODULES USED</a:t>
            </a:r>
            <a:endParaRPr lang="en-US" sz="3600" b="1" dirty="0">
              <a:solidFill>
                <a:srgbClr val="FF0066"/>
              </a:solidFill>
              <a:latin typeface="Times New Roman" panose="02020603050405020304" pitchFamily="18" charset="0"/>
              <a:cs typeface="Times New Roman" panose="02020603050405020304" pitchFamily="18" charset="0"/>
              <a:sym typeface="Arial" panose="020B0604020202020204"/>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
          <p:cNvSpPr txBox="1">
            <a:spLocks noGrp="1"/>
          </p:cNvSpPr>
          <p:nvPr>
            <p:ph type="title" idx="4294967295"/>
          </p:nvPr>
        </p:nvSpPr>
        <p:spPr>
          <a:xfrm>
            <a:off x="1953064" y="541924"/>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0066"/>
              </a:buClr>
              <a:buSzPts val="3600"/>
              <a:buFont typeface="Arial" panose="020B0604020202020204"/>
              <a:buNone/>
            </a:pPr>
            <a:r>
              <a:rPr lang="en-US" sz="3600" b="1" dirty="0">
                <a:solidFill>
                  <a:srgbClr val="FF0066"/>
                </a:solidFill>
                <a:latin typeface="Times New Roman" panose="02020603050405020304" pitchFamily="18" charset="0"/>
                <a:ea typeface="Arial" panose="020B0604020202020204"/>
                <a:cs typeface="Times New Roman" panose="02020603050405020304" pitchFamily="18" charset="0"/>
                <a:sym typeface="Arial" panose="020B0604020202020204"/>
              </a:rPr>
              <a:t>BLOCK DIAGRAM</a:t>
            </a:r>
            <a:endParaRPr dirty="0">
              <a:latin typeface="Times New Roman" panose="02020603050405020304" pitchFamily="18" charset="0"/>
              <a:cs typeface="Times New Roman" panose="02020603050405020304" pitchFamily="18" charset="0"/>
            </a:endParaRPr>
          </a:p>
        </p:txBody>
      </p:sp>
      <p:pic>
        <p:nvPicPr>
          <p:cNvPr id="240" name="Google Shape;240;p2"/>
          <p:cNvPicPr preferRelativeResize="0"/>
          <p:nvPr/>
        </p:nvPicPr>
        <p:blipFill rotWithShape="1">
          <a:blip r:embed="rId1"/>
          <a:srcRect/>
          <a:stretch>
            <a:fillRect/>
          </a:stretch>
        </p:blipFill>
        <p:spPr>
          <a:xfrm>
            <a:off x="332362" y="360363"/>
            <a:ext cx="1066800" cy="1057275"/>
          </a:xfrm>
          <a:prstGeom prst="rect">
            <a:avLst/>
          </a:prstGeom>
          <a:noFill/>
          <a:ln>
            <a:noFill/>
          </a:ln>
        </p:spPr>
      </p:pic>
      <p:pic>
        <p:nvPicPr>
          <p:cNvPr id="242" name="Google Shape;242;p2" descr="A blue and white logo&#10;&#10;Description automatically generated"/>
          <p:cNvPicPr preferRelativeResize="0"/>
          <p:nvPr/>
        </p:nvPicPr>
        <p:blipFill rotWithShape="1">
          <a:blip r:embed="rId2"/>
          <a:srcRect/>
          <a:stretch>
            <a:fillRect/>
          </a:stretch>
        </p:blipFill>
        <p:spPr>
          <a:xfrm>
            <a:off x="10238936" y="360363"/>
            <a:ext cx="1510596" cy="1092149"/>
          </a:xfrm>
          <a:prstGeom prst="rect">
            <a:avLst/>
          </a:prstGeom>
          <a:noFill/>
          <a:ln>
            <a:noFill/>
          </a:ln>
        </p:spPr>
      </p:pic>
      <p:sp>
        <p:nvSpPr>
          <p:cNvPr id="243" name="Google Shape;243;p2"/>
          <p:cNvSpPr txBox="1"/>
          <p:nvPr/>
        </p:nvSpPr>
        <p:spPr>
          <a:xfrm>
            <a:off x="-6102" y="2718182"/>
            <a:ext cx="12192000" cy="6177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stStyle>
          <a:p>
            <a:pPr marL="0" lvl="0" indent="0" algn="l" rtl="0">
              <a:spcBef>
                <a:spcPts val="0"/>
              </a:spcBef>
              <a:spcAft>
                <a:spcPts val="0"/>
              </a:spcAft>
              <a:buNone/>
            </a:pPr>
            <a:endParaRPr sz="2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 name="Date Placeholder 4"/>
          <p:cNvSpPr>
            <a:spLocks noGrp="1"/>
          </p:cNvSpPr>
          <p:nvPr>
            <p:ph type="dt" idx="10"/>
          </p:nvPr>
        </p:nvSpPr>
        <p:spPr/>
        <p:txBody>
          <a:bodyPr/>
          <a:lstStyle/>
          <a:p>
            <a:fld id="{7A9B282A-CA7E-4996-AA46-66D35F675AFA}" type="datetime3">
              <a:rPr lang="en-US" smtClean="0"/>
            </a:fld>
            <a:endParaRPr lang="en-US"/>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
        <p:nvSpPr>
          <p:cNvPr id="2" name="Rectangle 1"/>
          <p:cNvSpPr/>
          <p:nvPr/>
        </p:nvSpPr>
        <p:spPr>
          <a:xfrm>
            <a:off x="4428565" y="1891553"/>
            <a:ext cx="1461247" cy="744071"/>
          </a:xfrm>
          <a:prstGeom prst="rect">
            <a:avLst/>
          </a:prstGeom>
          <a:solidFill>
            <a:schemeClr val="bg1"/>
          </a:solidFill>
          <a:ln>
            <a:noFill/>
          </a:ln>
          <a:effectLst/>
        </p:spPr>
        <p:style>
          <a:lnRef idx="1">
            <a:schemeClr val="accent3"/>
          </a:lnRef>
          <a:fillRef idx="2">
            <a:schemeClr val="accent3"/>
          </a:fillRef>
          <a:effectRef idx="1">
            <a:schemeClr val="accent3"/>
          </a:effectRef>
          <a:fontRef idx="minor">
            <a:schemeClr val="dk1"/>
          </a:fontRef>
        </p:style>
        <p:txBody>
          <a:bodyPr rtlCol="0" anchor="ctr"/>
          <a:lstStyle/>
          <a:p>
            <a:pPr algn="ctr"/>
            <a:endParaRPr lang="en-GB">
              <a:ln w="0"/>
              <a:solidFill>
                <a:schemeClr val="tx1"/>
              </a:solidFill>
              <a:effectLst>
                <a:outerShdw blurRad="38100" dist="19050" dir="2700000" algn="tl" rotWithShape="0">
                  <a:schemeClr val="dk1">
                    <a:alpha val="40000"/>
                  </a:schemeClr>
                </a:outerShdw>
              </a:effectLst>
            </a:endParaRPr>
          </a:p>
        </p:txBody>
      </p:sp>
      <p:pic>
        <p:nvPicPr>
          <p:cNvPr id="7" name="Picture 6"/>
          <p:cNvPicPr>
            <a:picLocks noChangeAspect="1"/>
          </p:cNvPicPr>
          <p:nvPr/>
        </p:nvPicPr>
        <p:blipFill>
          <a:blip r:embed="rId3"/>
          <a:srcRect l="1091" t="17251" r="889" b="31389"/>
          <a:stretch>
            <a:fillRect/>
          </a:stretch>
        </p:blipFill>
        <p:spPr>
          <a:xfrm>
            <a:off x="494522" y="1891553"/>
            <a:ext cx="11255010" cy="427598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
          <p:cNvSpPr txBox="1">
            <a:spLocks noGrp="1"/>
          </p:cNvSpPr>
          <p:nvPr>
            <p:ph type="title" idx="4294967295"/>
          </p:nvPr>
        </p:nvSpPr>
        <p:spPr>
          <a:xfrm>
            <a:off x="1953064" y="541924"/>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0066"/>
              </a:buClr>
              <a:buSzPts val="3600"/>
              <a:buFont typeface="Arial" panose="020B0604020202020204"/>
              <a:buNone/>
            </a:pPr>
            <a:r>
              <a:rPr lang="en-US" sz="3600" b="1" dirty="0">
                <a:solidFill>
                  <a:srgbClr val="FF0066"/>
                </a:solidFill>
                <a:latin typeface="Times New Roman" panose="02020603050405020304" pitchFamily="18" charset="0"/>
                <a:ea typeface="Arial" panose="020B0604020202020204"/>
                <a:cs typeface="Times New Roman" panose="02020603050405020304" pitchFamily="18" charset="0"/>
                <a:sym typeface="Arial" panose="020B0604020202020204"/>
              </a:rPr>
              <a:t>APPLICATIONS</a:t>
            </a:r>
            <a:endParaRPr dirty="0">
              <a:latin typeface="Times New Roman" panose="02020603050405020304" pitchFamily="18" charset="0"/>
              <a:cs typeface="Times New Roman" panose="02020603050405020304" pitchFamily="18" charset="0"/>
            </a:endParaRPr>
          </a:p>
        </p:txBody>
      </p:sp>
      <p:pic>
        <p:nvPicPr>
          <p:cNvPr id="240" name="Google Shape;240;p2"/>
          <p:cNvPicPr preferRelativeResize="0"/>
          <p:nvPr/>
        </p:nvPicPr>
        <p:blipFill rotWithShape="1">
          <a:blip r:embed="rId1"/>
          <a:srcRect/>
          <a:stretch>
            <a:fillRect/>
          </a:stretch>
        </p:blipFill>
        <p:spPr>
          <a:xfrm>
            <a:off x="332362" y="360363"/>
            <a:ext cx="1066800" cy="1057275"/>
          </a:xfrm>
          <a:prstGeom prst="rect">
            <a:avLst/>
          </a:prstGeom>
          <a:noFill/>
          <a:ln>
            <a:noFill/>
          </a:ln>
        </p:spPr>
      </p:pic>
      <p:sp>
        <p:nvSpPr>
          <p:cNvPr id="241" name="Google Shape;241;p2"/>
          <p:cNvSpPr/>
          <p:nvPr/>
        </p:nvSpPr>
        <p:spPr>
          <a:xfrm>
            <a:off x="3078325" y="1909262"/>
            <a:ext cx="7457595" cy="3039476"/>
          </a:xfrm>
          <a:prstGeom prst="rect">
            <a:avLst/>
          </a:prstGeom>
          <a:noFill/>
          <a:ln>
            <a:noFill/>
          </a:ln>
        </p:spPr>
        <p:txBody>
          <a:bodyPr spcFirstLastPara="1" wrap="square" lIns="91425" tIns="45700" rIns="91425" bIns="45700" anchor="t" anchorCtr="0">
            <a:noAutofit/>
          </a:bodyPr>
          <a:lstStyle/>
          <a:p>
            <a:pPr marL="342900" lvl="0" indent="-342900" algn="just" eaLnBrk="0" fontAlgn="base" hangingPunct="0">
              <a:spcBef>
                <a:spcPct val="0"/>
              </a:spcBef>
              <a:spcAft>
                <a:spcPct val="0"/>
              </a:spcAft>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5G and future 6G base stations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Massive MIMO wireless communication systems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Automotive radar and autonomous vehicles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Satellite and space communication systems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High-speed wireless backhaul links</a:t>
            </a: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endParaRPr lang="en-US" altLang="en-US" sz="2400" dirty="0">
              <a:solidFill>
                <a:schemeClr val="tx1"/>
              </a:solidFill>
              <a:latin typeface="Times New Roman" panose="02020603050405020304" pitchFamily="18" charset="0"/>
              <a:cs typeface="Times New Roman" panose="02020603050405020304" pitchFamily="18" charset="0"/>
            </a:endParaRPr>
          </a:p>
          <a:p>
            <a:pPr marL="342900" lvl="0" indent="-342900" algn="just" eaLnBrk="0" fontAlgn="base" hangingPunct="0">
              <a:spcBef>
                <a:spcPct val="0"/>
              </a:spcBef>
              <a:spcAft>
                <a:spcPct val="0"/>
              </a:spcAft>
              <a:buFont typeface="Wingdings" panose="05000000000000000000" pitchFamily="2" charset="2"/>
              <a:buChar char="Ø"/>
            </a:pPr>
            <a:r>
              <a:rPr lang="en-US" altLang="en-US" sz="2400" dirty="0">
                <a:solidFill>
                  <a:schemeClr val="tx1"/>
                </a:solidFill>
                <a:latin typeface="Times New Roman" panose="02020603050405020304" pitchFamily="18" charset="0"/>
                <a:cs typeface="Times New Roman" panose="02020603050405020304" pitchFamily="18" charset="0"/>
              </a:rPr>
              <a:t>mmWave test and measurement systems</a:t>
            </a:r>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242" name="Google Shape;242;p2" descr="A blue and white logo&#10;&#10;Description automatically generated"/>
          <p:cNvPicPr preferRelativeResize="0"/>
          <p:nvPr/>
        </p:nvPicPr>
        <p:blipFill rotWithShape="1">
          <a:blip r:embed="rId2"/>
          <a:srcRect/>
          <a:stretch>
            <a:fillRect/>
          </a:stretch>
        </p:blipFill>
        <p:spPr>
          <a:xfrm>
            <a:off x="10238936" y="360363"/>
            <a:ext cx="1510596" cy="1092149"/>
          </a:xfrm>
          <a:prstGeom prst="rect">
            <a:avLst/>
          </a:prstGeom>
          <a:noFill/>
          <a:ln>
            <a:noFill/>
          </a:ln>
        </p:spPr>
      </p:pic>
      <p:sp>
        <p:nvSpPr>
          <p:cNvPr id="5" name="Date Placeholder 4"/>
          <p:cNvSpPr>
            <a:spLocks noGrp="1"/>
          </p:cNvSpPr>
          <p:nvPr>
            <p:ph type="dt" idx="10"/>
          </p:nvPr>
        </p:nvSpPr>
        <p:spPr/>
        <p:txBody>
          <a:bodyPr/>
          <a:lstStyle/>
          <a:p>
            <a:fld id="{E9CBB653-9482-4E7D-AF51-9DA2A9688AEF}" type="datetime3">
              <a:rPr lang="en-US" smtClean="0"/>
            </a:fld>
            <a:endParaRPr lang="en-US" dirty="0"/>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
          <p:cNvSpPr txBox="1">
            <a:spLocks noGrp="1"/>
          </p:cNvSpPr>
          <p:nvPr>
            <p:ph type="title" idx="4294967295"/>
          </p:nvPr>
        </p:nvSpPr>
        <p:spPr>
          <a:xfrm>
            <a:off x="1920980" y="177206"/>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0066"/>
              </a:buClr>
              <a:buSzPts val="3600"/>
              <a:buFont typeface="Arial" panose="020B0604020202020204"/>
              <a:buNone/>
            </a:pPr>
            <a:r>
              <a:rPr lang="en-US" sz="3600" b="1" dirty="0">
                <a:solidFill>
                  <a:srgbClr val="FF0066"/>
                </a:solidFill>
                <a:latin typeface="Times New Roman" panose="02020603050405020304" pitchFamily="18" charset="0"/>
                <a:cs typeface="Times New Roman" panose="02020603050405020304" pitchFamily="18" charset="0"/>
                <a:sym typeface="Arial" panose="020B0604020202020204"/>
              </a:rPr>
              <a:t>RESULTS &amp; DISCUSSION</a:t>
            </a:r>
            <a:endParaRPr dirty="0">
              <a:latin typeface="Times New Roman" panose="02020603050405020304" pitchFamily="18" charset="0"/>
              <a:cs typeface="Times New Roman" panose="02020603050405020304" pitchFamily="18" charset="0"/>
            </a:endParaRPr>
          </a:p>
        </p:txBody>
      </p:sp>
      <p:pic>
        <p:nvPicPr>
          <p:cNvPr id="240" name="Google Shape;240;p2"/>
          <p:cNvPicPr preferRelativeResize="0"/>
          <p:nvPr/>
        </p:nvPicPr>
        <p:blipFill rotWithShape="1">
          <a:blip r:embed="rId1"/>
          <a:srcRect/>
          <a:stretch>
            <a:fillRect/>
          </a:stretch>
        </p:blipFill>
        <p:spPr>
          <a:xfrm>
            <a:off x="332362" y="360363"/>
            <a:ext cx="1066800" cy="1057275"/>
          </a:xfrm>
          <a:prstGeom prst="rect">
            <a:avLst/>
          </a:prstGeom>
          <a:noFill/>
          <a:ln>
            <a:noFill/>
          </a:ln>
        </p:spPr>
      </p:pic>
      <p:sp>
        <p:nvSpPr>
          <p:cNvPr id="241" name="Google Shape;241;p2"/>
          <p:cNvSpPr/>
          <p:nvPr/>
        </p:nvSpPr>
        <p:spPr>
          <a:xfrm>
            <a:off x="3078325" y="1909262"/>
            <a:ext cx="7457595" cy="3039476"/>
          </a:xfrm>
          <a:prstGeom prst="rect">
            <a:avLst/>
          </a:prstGeom>
          <a:noFill/>
          <a:ln>
            <a:noFill/>
          </a:ln>
        </p:spPr>
        <p:txBody>
          <a:bodyPr spcFirstLastPara="1" wrap="square" lIns="91425" tIns="45700" rIns="91425" bIns="45700" anchor="t" anchorCtr="0">
            <a:noAutofit/>
          </a:bodyPr>
          <a:lstStyle/>
          <a:p>
            <a:pPr marL="342900" lvl="0" indent="-342900" algn="just" eaLnBrk="0" fontAlgn="base" hangingPunct="0">
              <a:spcBef>
                <a:spcPct val="0"/>
              </a:spcBef>
              <a:spcAft>
                <a:spcPct val="0"/>
              </a:spcAft>
              <a:buFont typeface="Wingdings" panose="05000000000000000000" pitchFamily="2" charset="2"/>
              <a:buChar char="Ø"/>
            </a:pPr>
            <a:endParaRPr lang="en-US" altLang="en-US" sz="2400" dirty="0">
              <a:solidFill>
                <a:schemeClr val="tx1"/>
              </a:solidFill>
              <a:latin typeface="Times New Roman" panose="02020603050405020304" pitchFamily="18" charset="0"/>
              <a:cs typeface="Times New Roman" panose="02020603050405020304" pitchFamily="18" charset="0"/>
            </a:endParaRPr>
          </a:p>
        </p:txBody>
      </p:sp>
      <p:pic>
        <p:nvPicPr>
          <p:cNvPr id="242" name="Google Shape;242;p2" descr="A blue and white logo&#10;&#10;Description automatically generated"/>
          <p:cNvPicPr preferRelativeResize="0"/>
          <p:nvPr/>
        </p:nvPicPr>
        <p:blipFill rotWithShape="1">
          <a:blip r:embed="rId2"/>
          <a:srcRect/>
          <a:stretch>
            <a:fillRect/>
          </a:stretch>
        </p:blipFill>
        <p:spPr>
          <a:xfrm>
            <a:off x="10238936" y="360363"/>
            <a:ext cx="1510596" cy="1092149"/>
          </a:xfrm>
          <a:prstGeom prst="rect">
            <a:avLst/>
          </a:prstGeom>
          <a:noFill/>
          <a:ln>
            <a:noFill/>
          </a:ln>
        </p:spPr>
      </p:pic>
      <p:sp>
        <p:nvSpPr>
          <p:cNvPr id="5" name="Date Placeholder 4"/>
          <p:cNvSpPr>
            <a:spLocks noGrp="1"/>
          </p:cNvSpPr>
          <p:nvPr>
            <p:ph type="dt" idx="10"/>
          </p:nvPr>
        </p:nvSpPr>
        <p:spPr/>
        <p:txBody>
          <a:bodyPr/>
          <a:lstStyle/>
          <a:p>
            <a:fld id="{E9CBB653-9482-4E7D-AF51-9DA2A9688AEF}" type="datetime3">
              <a:rPr lang="en-US" smtClean="0"/>
            </a:fld>
            <a:endParaRPr lang="en-US" dirty="0"/>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pic>
        <p:nvPicPr>
          <p:cNvPr id="4" name="Picture 3"/>
          <p:cNvPicPr>
            <a:picLocks noChangeAspect="1"/>
          </p:cNvPicPr>
          <p:nvPr/>
        </p:nvPicPr>
        <p:blipFill>
          <a:blip r:embed="rId3"/>
          <a:stretch>
            <a:fillRect/>
          </a:stretch>
        </p:blipFill>
        <p:spPr>
          <a:xfrm>
            <a:off x="1487518" y="1031529"/>
            <a:ext cx="8663062" cy="538539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fld id="{80C4F162-3B8F-4218-910E-2E31CD87A7D2}" type="datetime3">
              <a:rPr lang="en-US" smtClean="0"/>
            </a:fld>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pic>
        <p:nvPicPr>
          <p:cNvPr id="4" name="Google Shape;240;p2"/>
          <p:cNvPicPr preferRelativeResize="0"/>
          <p:nvPr/>
        </p:nvPicPr>
        <p:blipFill rotWithShape="1">
          <a:blip r:embed="rId1"/>
          <a:srcRect/>
          <a:stretch>
            <a:fillRect/>
          </a:stretch>
        </p:blipFill>
        <p:spPr>
          <a:xfrm>
            <a:off x="304800" y="82411"/>
            <a:ext cx="1066800" cy="1057275"/>
          </a:xfrm>
          <a:prstGeom prst="rect">
            <a:avLst/>
          </a:prstGeom>
          <a:noFill/>
          <a:ln>
            <a:noFill/>
          </a:ln>
        </p:spPr>
      </p:pic>
      <p:pic>
        <p:nvPicPr>
          <p:cNvPr id="5" name="Google Shape;242;p2" descr="A blue and white logo&#10;&#10;Description automatically generated"/>
          <p:cNvPicPr preferRelativeResize="0"/>
          <p:nvPr/>
        </p:nvPicPr>
        <p:blipFill rotWithShape="1">
          <a:blip r:embed="rId2"/>
          <a:srcRect/>
          <a:stretch>
            <a:fillRect/>
          </a:stretch>
        </p:blipFill>
        <p:spPr>
          <a:xfrm>
            <a:off x="10248268" y="82411"/>
            <a:ext cx="1510596" cy="1092149"/>
          </a:xfrm>
          <a:prstGeom prst="rect">
            <a:avLst/>
          </a:prstGeom>
          <a:noFill/>
          <a:ln>
            <a:noFill/>
          </a:ln>
        </p:spPr>
      </p:pic>
      <p:sp>
        <p:nvSpPr>
          <p:cNvPr id="8" name="TextBox 7"/>
          <p:cNvSpPr txBox="1"/>
          <p:nvPr/>
        </p:nvSpPr>
        <p:spPr>
          <a:xfrm>
            <a:off x="3394788" y="431800"/>
            <a:ext cx="6097554" cy="707886"/>
          </a:xfrm>
          <a:prstGeom prst="rect">
            <a:avLst/>
          </a:prstGeom>
          <a:noFill/>
        </p:spPr>
        <p:txBody>
          <a:bodyPr wrap="square">
            <a:spAutoFit/>
          </a:bodyPr>
          <a:lstStyle/>
          <a:p>
            <a:r>
              <a:rPr lang="en-US" sz="4000" b="1" dirty="0">
                <a:solidFill>
                  <a:srgbClr val="FF0066"/>
                </a:solidFill>
                <a:latin typeface="Times New Roman" panose="02020603050405020304" pitchFamily="18" charset="0"/>
                <a:cs typeface="Times New Roman" panose="02020603050405020304" pitchFamily="18" charset="0"/>
              </a:rPr>
              <a:t>COMPARISON TABLE</a:t>
            </a:r>
            <a:endParaRPr lang="en-US" sz="4000" dirty="0"/>
          </a:p>
        </p:txBody>
      </p:sp>
      <p:graphicFrame>
        <p:nvGraphicFramePr>
          <p:cNvPr id="9" name="Table 8"/>
          <p:cNvGraphicFramePr>
            <a:graphicFrameLocks noGrp="1"/>
          </p:cNvGraphicFramePr>
          <p:nvPr/>
        </p:nvGraphicFramePr>
        <p:xfrm>
          <a:off x="1371600" y="1139686"/>
          <a:ext cx="8969755" cy="5408794"/>
        </p:xfrm>
        <a:graphic>
          <a:graphicData uri="http://schemas.openxmlformats.org/drawingml/2006/table">
            <a:tbl>
              <a:tblPr/>
              <a:tblGrid>
                <a:gridCol w="2070983"/>
                <a:gridCol w="2070983"/>
                <a:gridCol w="2070983"/>
                <a:gridCol w="1378403"/>
                <a:gridCol w="1378403"/>
              </a:tblGrid>
              <a:tr h="754715">
                <a:tc>
                  <a:txBody>
                    <a:bodyPr/>
                    <a:lstStyle/>
                    <a:p>
                      <a:pPr algn="ctr">
                        <a:buNone/>
                      </a:pPr>
                      <a:r>
                        <a:rPr lang="en-US" b="1" dirty="0">
                          <a:latin typeface="Times New Roman" panose="02020603050405020304" pitchFamily="18" charset="0"/>
                          <a:cs typeface="Times New Roman" panose="02020603050405020304" pitchFamily="18" charset="0"/>
                        </a:rPr>
                        <a:t>Algorithm Name</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atin typeface="Times New Roman" panose="02020603050405020304" pitchFamily="18" charset="0"/>
                          <a:cs typeface="Times New Roman" panose="02020603050405020304" pitchFamily="18" charset="0"/>
                        </a:rPr>
                        <a:t>Filter / Method Used</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atin typeface="Times New Roman" panose="02020603050405020304" pitchFamily="18" charset="0"/>
                          <a:cs typeface="Times New Roman" panose="02020603050405020304" pitchFamily="18" charset="0"/>
                        </a:rPr>
                        <a:t>Observation from Output</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atin typeface="Times New Roman" panose="02020603050405020304" pitchFamily="18" charset="0"/>
                          <a:cs typeface="Times New Roman" panose="02020603050405020304" pitchFamily="18" charset="0"/>
                        </a:rPr>
                        <a:t>BER / Performance</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atin typeface="Times New Roman" panose="02020603050405020304" pitchFamily="18" charset="0"/>
                          <a:cs typeface="Times New Roman" panose="02020603050405020304" pitchFamily="18" charset="0"/>
                        </a:rPr>
                        <a:t>BER Values</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74841">
                <a:tc>
                  <a:txBody>
                    <a:bodyPr/>
                    <a:lstStyle/>
                    <a:p>
                      <a:pPr algn="ctr">
                        <a:buNone/>
                      </a:pPr>
                      <a:r>
                        <a:rPr lang="en-US" b="1" dirty="0">
                          <a:latin typeface="Times New Roman" panose="02020603050405020304" pitchFamily="18" charset="0"/>
                          <a:cs typeface="Times New Roman" panose="02020603050405020304" pitchFamily="18" charset="0"/>
                        </a:rPr>
                        <a:t>LS (Least Squares) ⭐</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atin typeface="Times New Roman" panose="02020603050405020304" pitchFamily="18" charset="0"/>
                          <a:cs typeface="Times New Roman" panose="02020603050405020304" pitchFamily="18" charset="0"/>
                        </a:rPr>
                        <a:t>Pilot-based estimation filter</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atin typeface="Times New Roman" panose="02020603050405020304" pitchFamily="18" charset="0"/>
                          <a:cs typeface="Times New Roman" panose="02020603050405020304" pitchFamily="18" charset="0"/>
                        </a:rPr>
                        <a:t>Constellation becomes well aligned after calibration</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b="1" dirty="0">
                          <a:latin typeface="Times New Roman" panose="02020603050405020304" pitchFamily="18" charset="0"/>
                          <a:cs typeface="Times New Roman" panose="02020603050405020304" pitchFamily="18" charset="0"/>
                        </a:rPr>
                        <a:t>Low BER </a:t>
                      </a: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lang="en-US" b="1" dirty="0">
                          <a:latin typeface="Times New Roman" panose="02020603050405020304" pitchFamily="18" charset="0"/>
                          <a:cs typeface="Times New Roman" panose="02020603050405020304" pitchFamily="18" charset="0"/>
                        </a:rPr>
                        <a:t>0.004</a:t>
                      </a:r>
                      <a:endParaRPr lang="en-US" b="1" dirty="0">
                        <a:latin typeface="Times New Roman" panose="02020603050405020304" pitchFamily="18" charset="0"/>
                        <a:cs typeface="Times New Roman" panose="02020603050405020304" pitchFamily="18" charset="0"/>
                      </a:endParaRPr>
                    </a:p>
                    <a:p>
                      <a:pPr algn="ctr">
                        <a:buNone/>
                      </a:pPr>
                      <a:endParaRPr lang="en-US" b="1"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754715">
                <a:tc>
                  <a:txBody>
                    <a:bodyPr/>
                    <a:lstStyle/>
                    <a:p>
                      <a:pPr algn="ctr">
                        <a:buNone/>
                      </a:pPr>
                      <a:r>
                        <a:rPr lang="en-US" dirty="0">
                          <a:latin typeface="Times New Roman" panose="02020603050405020304" pitchFamily="18" charset="0"/>
                          <a:cs typeface="Times New Roman" panose="02020603050405020304" pitchFamily="18" charset="0"/>
                        </a:rPr>
                        <a:t>LMS (Least Mean Squares)</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Times New Roman" panose="02020603050405020304" pitchFamily="18" charset="0"/>
                          <a:cs typeface="Times New Roman" panose="02020603050405020304" pitchFamily="18" charset="0"/>
                        </a:rPr>
                        <a:t>Adaptive error minimization filter</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Times New Roman" panose="02020603050405020304" pitchFamily="18" charset="0"/>
                          <a:cs typeface="Times New Roman" panose="02020603050405020304" pitchFamily="18" charset="0"/>
                        </a:rPr>
                        <a:t>Improves clustering gradually</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Times New Roman" panose="02020603050405020304" pitchFamily="18" charset="0"/>
                          <a:cs typeface="Times New Roman" panose="02020603050405020304" pitchFamily="18" charset="0"/>
                        </a:rPr>
                        <a:t>Medium BER</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atin typeface="Times New Roman" panose="02020603050405020304" pitchFamily="18" charset="0"/>
                          <a:cs typeface="Times New Roman" panose="02020603050405020304" pitchFamily="18" charset="0"/>
                        </a:rPr>
                        <a:t>0.043</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74841">
                <a:tc>
                  <a:txBody>
                    <a:bodyPr/>
                    <a:lstStyle/>
                    <a:p>
                      <a:pPr algn="ctr">
                        <a:buNone/>
                      </a:pPr>
                      <a:r>
                        <a:rPr lang="en-US" dirty="0">
                          <a:latin typeface="Times New Roman" panose="02020603050405020304" pitchFamily="18" charset="0"/>
                          <a:cs typeface="Times New Roman" panose="02020603050405020304" pitchFamily="18" charset="0"/>
                        </a:rPr>
                        <a:t>RLS (Recursive Least Squares)</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Times New Roman" panose="02020603050405020304" pitchFamily="18" charset="0"/>
                          <a:cs typeface="Times New Roman" panose="02020603050405020304" pitchFamily="18" charset="0"/>
                        </a:rPr>
                        <a:t>Recursive estimation filter</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Times New Roman" panose="02020603050405020304" pitchFamily="18" charset="0"/>
                          <a:cs typeface="Times New Roman" panose="02020603050405020304" pitchFamily="18" charset="0"/>
                        </a:rPr>
                        <a:t>Good accuracy but complex</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Times New Roman" panose="02020603050405020304" pitchFamily="18" charset="0"/>
                          <a:cs typeface="Times New Roman" panose="02020603050405020304" pitchFamily="18" charset="0"/>
                        </a:rPr>
                        <a:t>Medium BER</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atin typeface="Times New Roman" panose="02020603050405020304" pitchFamily="18" charset="0"/>
                          <a:cs typeface="Times New Roman" panose="02020603050405020304" pitchFamily="18" charset="0"/>
                        </a:rPr>
                        <a:t>0.018</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74841">
                <a:tc>
                  <a:txBody>
                    <a:bodyPr/>
                    <a:lstStyle/>
                    <a:p>
                      <a:pPr algn="ctr">
                        <a:buNone/>
                      </a:pPr>
                      <a:r>
                        <a:rPr lang="en-US" dirty="0">
                          <a:latin typeface="Times New Roman" panose="02020603050405020304" pitchFamily="18" charset="0"/>
                          <a:cs typeface="Times New Roman" panose="02020603050405020304" pitchFamily="18" charset="0"/>
                        </a:rPr>
                        <a:t>Kalman Filter</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atin typeface="Times New Roman" panose="02020603050405020304" pitchFamily="18" charset="0"/>
                          <a:cs typeface="Times New Roman" panose="02020603050405020304" pitchFamily="18" charset="0"/>
                        </a:rPr>
                        <a:t>State estimation filter</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Times New Roman" panose="02020603050405020304" pitchFamily="18" charset="0"/>
                          <a:cs typeface="Times New Roman" panose="02020603050405020304" pitchFamily="18" charset="0"/>
                        </a:rPr>
                        <a:t>Stable estimation</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a:latin typeface="Times New Roman" panose="02020603050405020304" pitchFamily="18" charset="0"/>
                          <a:cs typeface="Times New Roman" panose="02020603050405020304" pitchFamily="18" charset="0"/>
                        </a:rPr>
                        <a:t>Medium BER</a:t>
                      </a:r>
                      <a:endParaRPr lang="en-US">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atin typeface="Times New Roman" panose="02020603050405020304" pitchFamily="18" charset="0"/>
                          <a:cs typeface="Times New Roman" panose="02020603050405020304" pitchFamily="18" charset="0"/>
                        </a:rPr>
                        <a:t>0.009</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r h="974841">
                <a:tc>
                  <a:txBody>
                    <a:bodyPr/>
                    <a:lstStyle/>
                    <a:p>
                      <a:pPr algn="ctr">
                        <a:buNone/>
                      </a:pPr>
                      <a:r>
                        <a:rPr lang="en-US" dirty="0">
                          <a:latin typeface="Times New Roman" panose="02020603050405020304" pitchFamily="18" charset="0"/>
                          <a:cs typeface="Times New Roman" panose="02020603050405020304" pitchFamily="18" charset="0"/>
                        </a:rPr>
                        <a:t>DNN (Deep Learning)</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atin typeface="Times New Roman" panose="02020603050405020304" pitchFamily="18" charset="0"/>
                          <a:cs typeface="Times New Roman" panose="02020603050405020304" pitchFamily="18" charset="0"/>
                        </a:rPr>
                        <a:t>Neural network calibration</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atin typeface="Times New Roman" panose="02020603050405020304" pitchFamily="18" charset="0"/>
                          <a:cs typeface="Times New Roman" panose="02020603050405020304" pitchFamily="18" charset="0"/>
                        </a:rPr>
                        <a:t>Advanced technique but not used here</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atin typeface="Times New Roman" panose="02020603050405020304" pitchFamily="18" charset="0"/>
                          <a:cs typeface="Times New Roman" panose="02020603050405020304" pitchFamily="18" charset="0"/>
                        </a:rPr>
                        <a:t>Not evaluated</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buNone/>
                      </a:pPr>
                      <a:r>
                        <a:rPr lang="en-US" dirty="0">
                          <a:latin typeface="Times New Roman" panose="02020603050405020304" pitchFamily="18" charset="0"/>
                          <a:cs typeface="Times New Roman" panose="02020603050405020304" pitchFamily="18" charset="0"/>
                        </a:rPr>
                        <a:t>--</a:t>
                      </a:r>
                      <a:endParaRPr lang="en-US" dirty="0">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idx="10"/>
          </p:nvPr>
        </p:nvSpPr>
        <p:spPr/>
        <p:txBody>
          <a:bodyPr/>
          <a:lstStyle/>
          <a:p>
            <a:fld id="{80C4F162-3B8F-4218-910E-2E31CD87A7D2}" type="datetime3">
              <a:rPr lang="en-US" smtClean="0"/>
            </a:fld>
            <a:endParaRPr lang="en-US"/>
          </a:p>
        </p:txBody>
      </p:sp>
      <p:sp>
        <p:nvSpPr>
          <p:cNvPr id="3" name="Slide Number Placeholder 2"/>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pic>
        <p:nvPicPr>
          <p:cNvPr id="5" name="Picture 4"/>
          <p:cNvPicPr>
            <a:picLocks noChangeAspect="1"/>
          </p:cNvPicPr>
          <p:nvPr/>
        </p:nvPicPr>
        <p:blipFill>
          <a:blip r:embed="rId1"/>
          <a:srcRect l="5846" t="3191" r="5715" b="3518"/>
          <a:stretch>
            <a:fillRect/>
          </a:stretch>
        </p:blipFill>
        <p:spPr>
          <a:xfrm>
            <a:off x="1749060" y="1054359"/>
            <a:ext cx="9004041" cy="5301991"/>
          </a:xfrm>
          <a:prstGeom prst="rect">
            <a:avLst/>
          </a:prstGeom>
        </p:spPr>
      </p:pic>
      <p:pic>
        <p:nvPicPr>
          <p:cNvPr id="6" name="Google Shape;240;p2"/>
          <p:cNvPicPr preferRelativeResize="0"/>
          <p:nvPr/>
        </p:nvPicPr>
        <p:blipFill rotWithShape="1">
          <a:blip r:embed="rId2"/>
          <a:srcRect/>
          <a:stretch>
            <a:fillRect/>
          </a:stretch>
        </p:blipFill>
        <p:spPr>
          <a:xfrm>
            <a:off x="155081" y="136525"/>
            <a:ext cx="1066800" cy="1057275"/>
          </a:xfrm>
          <a:prstGeom prst="rect">
            <a:avLst/>
          </a:prstGeom>
          <a:noFill/>
          <a:ln>
            <a:noFill/>
          </a:ln>
        </p:spPr>
      </p:pic>
      <p:pic>
        <p:nvPicPr>
          <p:cNvPr id="7" name="Google Shape;242;p2" descr="A blue and white logo&#10;&#10;Description automatically generated"/>
          <p:cNvPicPr preferRelativeResize="0"/>
          <p:nvPr/>
        </p:nvPicPr>
        <p:blipFill rotWithShape="1">
          <a:blip r:embed="rId3"/>
          <a:srcRect/>
          <a:stretch>
            <a:fillRect/>
          </a:stretch>
        </p:blipFill>
        <p:spPr>
          <a:xfrm>
            <a:off x="10681404" y="39524"/>
            <a:ext cx="1510596" cy="1092149"/>
          </a:xfrm>
          <a:prstGeom prst="rect">
            <a:avLst/>
          </a:prstGeom>
          <a:noFill/>
          <a:ln>
            <a:noFill/>
          </a:ln>
        </p:spPr>
      </p:pic>
      <p:sp>
        <p:nvSpPr>
          <p:cNvPr id="11" name="TextBox 10"/>
          <p:cNvSpPr txBox="1"/>
          <p:nvPr/>
        </p:nvSpPr>
        <p:spPr>
          <a:xfrm>
            <a:off x="4555282" y="136525"/>
            <a:ext cx="3081435" cy="707886"/>
          </a:xfrm>
          <a:prstGeom prst="rect">
            <a:avLst/>
          </a:prstGeom>
          <a:noFill/>
        </p:spPr>
        <p:txBody>
          <a:bodyPr wrap="square">
            <a:spAutoFit/>
          </a:bodyPr>
          <a:lstStyle/>
          <a:p>
            <a:r>
              <a:rPr lang="en-US" sz="4000" b="1" dirty="0">
                <a:solidFill>
                  <a:srgbClr val="FF0066"/>
                </a:solidFill>
                <a:latin typeface="Times New Roman" panose="02020603050405020304" pitchFamily="18" charset="0"/>
                <a:cs typeface="Times New Roman" panose="02020603050405020304" pitchFamily="18" charset="0"/>
              </a:rPr>
              <a:t>OUTPUTS</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
          <p:cNvSpPr txBox="1">
            <a:spLocks noGrp="1"/>
          </p:cNvSpPr>
          <p:nvPr>
            <p:ph type="title" idx="4294967295"/>
          </p:nvPr>
        </p:nvSpPr>
        <p:spPr>
          <a:xfrm>
            <a:off x="1953064" y="541924"/>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0066"/>
              </a:buClr>
              <a:buSzPts val="3600"/>
              <a:buFont typeface="Arial" panose="020B0604020202020204"/>
              <a:buNone/>
            </a:pPr>
            <a:r>
              <a:rPr lang="en-US" sz="3600" b="1" dirty="0">
                <a:solidFill>
                  <a:srgbClr val="FF0066"/>
                </a:solidFill>
                <a:latin typeface="Times New Roman" panose="02020603050405020304" pitchFamily="18" charset="0"/>
                <a:ea typeface="Arial" panose="020B0604020202020204"/>
                <a:cs typeface="Times New Roman" panose="02020603050405020304" pitchFamily="18" charset="0"/>
                <a:sym typeface="Arial" panose="020B0604020202020204"/>
              </a:rPr>
              <a:t>CONCLUSION &amp; FUTURE SCOPE</a:t>
            </a:r>
            <a:endParaRPr dirty="0">
              <a:latin typeface="Times New Roman" panose="02020603050405020304" pitchFamily="18" charset="0"/>
              <a:cs typeface="Times New Roman" panose="02020603050405020304" pitchFamily="18" charset="0"/>
            </a:endParaRPr>
          </a:p>
        </p:txBody>
      </p:sp>
      <p:pic>
        <p:nvPicPr>
          <p:cNvPr id="240" name="Google Shape;240;p2"/>
          <p:cNvPicPr preferRelativeResize="0"/>
          <p:nvPr/>
        </p:nvPicPr>
        <p:blipFill rotWithShape="1">
          <a:blip r:embed="rId1"/>
          <a:srcRect/>
          <a:stretch>
            <a:fillRect/>
          </a:stretch>
        </p:blipFill>
        <p:spPr>
          <a:xfrm>
            <a:off x="332362" y="360363"/>
            <a:ext cx="1066800" cy="1057275"/>
          </a:xfrm>
          <a:prstGeom prst="rect">
            <a:avLst/>
          </a:prstGeom>
          <a:noFill/>
          <a:ln>
            <a:noFill/>
          </a:ln>
        </p:spPr>
      </p:pic>
      <p:sp>
        <p:nvSpPr>
          <p:cNvPr id="241" name="Google Shape;241;p2"/>
          <p:cNvSpPr/>
          <p:nvPr/>
        </p:nvSpPr>
        <p:spPr>
          <a:xfrm>
            <a:off x="865762" y="1684924"/>
            <a:ext cx="10515601" cy="4398710"/>
          </a:xfrm>
          <a:prstGeom prst="rect">
            <a:avLst/>
          </a:prstGeom>
          <a:noFill/>
          <a:ln>
            <a:noFill/>
          </a:ln>
        </p:spPr>
        <p:txBody>
          <a:bodyPr spcFirstLastPara="1" wrap="square" lIns="91425" tIns="45700" rIns="91425" bIns="45700" anchor="t" anchorCtr="0">
            <a:noAutofit/>
          </a:bodyPr>
          <a:lstStyle/>
          <a:p>
            <a:pPr marL="342900" indent="-342900" algn="just">
              <a:lnSpc>
                <a:spcPct val="150000"/>
              </a:lnSpc>
              <a:buFont typeface="Wingdings" panose="05000000000000000000" pitchFamily="2" charset="2"/>
              <a:buChar char="v"/>
            </a:pPr>
            <a:r>
              <a:rPr lang="en-US" altLang="en-US" sz="2300" dirty="0">
                <a:latin typeface="Times New Roman" panose="02020603050405020304" pitchFamily="18" charset="0"/>
                <a:cs typeface="Times New Roman" panose="02020603050405020304" pitchFamily="18" charset="0"/>
              </a:rPr>
              <a:t>This project successfully demonstrates a software-based calibration technique for millimeter wave communication systems using signal processing algorithms. The proposed method effectively compensates hardware impairments and improves system performance in terms of BER and signal quality.</a:t>
            </a:r>
            <a:endParaRPr lang="en-US" altLang="en-US" sz="2300" dirty="0">
              <a:latin typeface="Times New Roman" panose="02020603050405020304" pitchFamily="18" charset="0"/>
              <a:cs typeface="Times New Roman" panose="02020603050405020304" pitchFamily="18" charset="0"/>
            </a:endParaRPr>
          </a:p>
          <a:p>
            <a:pPr marL="0" indent="0" algn="just">
              <a:lnSpc>
                <a:spcPct val="150000"/>
              </a:lnSpc>
              <a:buFont typeface="Wingdings" panose="05000000000000000000" pitchFamily="2" charset="2"/>
              <a:buNone/>
            </a:pPr>
            <a:r>
              <a:rPr lang="en-US" altLang="en-US" sz="2300" b="1" u="sng" dirty="0">
                <a:latin typeface="Times New Roman" panose="02020603050405020304" pitchFamily="18" charset="0"/>
                <a:cs typeface="Times New Roman" panose="02020603050405020304" pitchFamily="18" charset="0"/>
              </a:rPr>
              <a:t>Future Scope</a:t>
            </a:r>
            <a:endParaRPr lang="en-US" altLang="en-US" sz="2300" b="1" u="sng"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r>
              <a:rPr lang="en-US" altLang="en-US" sz="2300" dirty="0">
                <a:latin typeface="Times New Roman" panose="02020603050405020304" pitchFamily="18" charset="0"/>
                <a:cs typeface="Times New Roman" panose="02020603050405020304" pitchFamily="18" charset="0"/>
              </a:rPr>
              <a:t>Extension to OFDM-based mmWave systems</a:t>
            </a:r>
            <a:endParaRPr lang="en-US" altLang="en-US" sz="23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r>
              <a:rPr lang="en-US" altLang="en-US" sz="2300" dirty="0">
                <a:latin typeface="Times New Roman" panose="02020603050405020304" pitchFamily="18" charset="0"/>
                <a:cs typeface="Times New Roman" panose="02020603050405020304" pitchFamily="18" charset="0"/>
              </a:rPr>
              <a:t>Antenna array and beamforming calibration</a:t>
            </a:r>
            <a:endParaRPr lang="en-US" altLang="en-US" sz="23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r>
              <a:rPr lang="en-US" altLang="en-US" sz="2300" dirty="0">
                <a:latin typeface="Times New Roman" panose="02020603050405020304" pitchFamily="18" charset="0"/>
                <a:cs typeface="Times New Roman" panose="02020603050405020304" pitchFamily="18" charset="0"/>
              </a:rPr>
              <a:t>Adaptive and real-time calibration algorithms</a:t>
            </a:r>
            <a:endParaRPr lang="en-US" altLang="en-US" sz="2300" dirty="0">
              <a:latin typeface="Times New Roman" panose="02020603050405020304" pitchFamily="18" charset="0"/>
              <a:cs typeface="Times New Roman" panose="02020603050405020304" pitchFamily="18" charset="0"/>
            </a:endParaRPr>
          </a:p>
          <a:p>
            <a:pPr marL="342900" indent="-342900" algn="just">
              <a:lnSpc>
                <a:spcPct val="150000"/>
              </a:lnSpc>
              <a:buFont typeface="Wingdings" panose="05000000000000000000" pitchFamily="2" charset="2"/>
              <a:buChar char="v"/>
            </a:pPr>
            <a:r>
              <a:rPr lang="en-US" altLang="en-US" sz="2300" dirty="0">
                <a:latin typeface="Times New Roman" panose="02020603050405020304" pitchFamily="18" charset="0"/>
                <a:cs typeface="Times New Roman" panose="02020603050405020304" pitchFamily="18" charset="0"/>
              </a:rPr>
              <a:t>Application to massive MIMO and 6G systems</a:t>
            </a:r>
            <a:endParaRPr lang="en-US" altLang="en-US" sz="2300" dirty="0">
              <a:latin typeface="Times New Roman" panose="02020603050405020304" pitchFamily="18" charset="0"/>
              <a:cs typeface="Times New Roman" panose="02020603050405020304" pitchFamily="18" charset="0"/>
            </a:endParaRPr>
          </a:p>
        </p:txBody>
      </p:sp>
      <p:pic>
        <p:nvPicPr>
          <p:cNvPr id="242" name="Google Shape;242;p2" descr="A blue and white logo&#10;&#10;Description automatically generated"/>
          <p:cNvPicPr preferRelativeResize="0"/>
          <p:nvPr/>
        </p:nvPicPr>
        <p:blipFill rotWithShape="1">
          <a:blip r:embed="rId2"/>
          <a:srcRect/>
          <a:stretch>
            <a:fillRect/>
          </a:stretch>
        </p:blipFill>
        <p:spPr>
          <a:xfrm>
            <a:off x="10238936" y="360363"/>
            <a:ext cx="1510596" cy="1092149"/>
          </a:xfrm>
          <a:prstGeom prst="rect">
            <a:avLst/>
          </a:prstGeom>
          <a:noFill/>
          <a:ln>
            <a:noFill/>
          </a:ln>
        </p:spPr>
      </p:pic>
      <p:sp>
        <p:nvSpPr>
          <p:cNvPr id="243" name="Google Shape;243;p2"/>
          <p:cNvSpPr txBox="1"/>
          <p:nvPr/>
        </p:nvSpPr>
        <p:spPr>
          <a:xfrm>
            <a:off x="-6102" y="2718182"/>
            <a:ext cx="12192000" cy="617700"/>
          </a:xfrm>
          <a:prstGeom prst="rect">
            <a:avLst/>
          </a:prstGeom>
          <a:noFill/>
          <a:ln>
            <a:noFill/>
          </a:ln>
        </p:spPr>
        <p:txBody>
          <a:bodyPr spcFirstLastPara="1" wrap="square" lIns="91425" tIns="91425" rIns="91425" bIns="91425" anchor="t"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stStyle>
          <a:p>
            <a:pPr marL="0" lvl="0" indent="0" algn="l" rtl="0">
              <a:spcBef>
                <a:spcPts val="0"/>
              </a:spcBef>
              <a:spcAft>
                <a:spcPts val="0"/>
              </a:spcAft>
              <a:buNone/>
            </a:pPr>
            <a:endParaRPr sz="2800">
              <a:solidFill>
                <a:schemeClr val="dk1"/>
              </a:solidFill>
              <a:latin typeface="Calibri" panose="020F0502020204030204"/>
              <a:ea typeface="Calibri" panose="020F0502020204030204"/>
              <a:cs typeface="Calibri" panose="020F0502020204030204"/>
              <a:sym typeface="Calibri" panose="020F0502020204030204"/>
            </a:endParaRPr>
          </a:p>
        </p:txBody>
      </p:sp>
      <p:sp>
        <p:nvSpPr>
          <p:cNvPr id="5" name="Date Placeholder 4"/>
          <p:cNvSpPr>
            <a:spLocks noGrp="1"/>
          </p:cNvSpPr>
          <p:nvPr>
            <p:ph type="dt" idx="10"/>
          </p:nvPr>
        </p:nvSpPr>
        <p:spPr/>
        <p:txBody>
          <a:bodyPr/>
          <a:lstStyle/>
          <a:p>
            <a:fld id="{E503095D-F840-42BA-93FA-6C8AF6A2BD6A}" type="datetime3">
              <a:rPr lang="en-US" smtClean="0"/>
            </a:fld>
            <a:endParaRPr lang="en-US"/>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pic>
        <p:nvPicPr>
          <p:cNvPr id="203" name="Google Shape;203;p26" descr="Teaching Teenagers about Thank You Notes | Pleasant Hill, CA Patch"/>
          <p:cNvPicPr preferRelativeResize="0"/>
          <p:nvPr/>
        </p:nvPicPr>
        <p:blipFill rotWithShape="1">
          <a:blip r:embed="rId1"/>
          <a:srcRect/>
          <a:stretch>
            <a:fillRect/>
          </a:stretch>
        </p:blipFill>
        <p:spPr>
          <a:xfrm>
            <a:off x="3315138" y="1342571"/>
            <a:ext cx="5561724" cy="4172857"/>
          </a:xfrm>
          <a:prstGeom prst="rect">
            <a:avLst/>
          </a:prstGeom>
          <a:noFill/>
          <a:ln>
            <a:noFill/>
          </a:ln>
        </p:spPr>
      </p:pic>
      <p:sp>
        <p:nvSpPr>
          <p:cNvPr id="5" name="Date Placeholder 4"/>
          <p:cNvSpPr>
            <a:spLocks noGrp="1"/>
          </p:cNvSpPr>
          <p:nvPr>
            <p:ph type="dt" idx="10"/>
          </p:nvPr>
        </p:nvSpPr>
        <p:spPr/>
        <p:txBody>
          <a:bodyPr/>
          <a:lstStyle/>
          <a:p>
            <a:fld id="{94BDDF92-3C98-4F5A-82DE-83053633613D}" type="datetime3">
              <a:rPr lang="en-US" smtClean="0"/>
            </a:fld>
            <a:endParaRPr lang="en-US"/>
          </a:p>
        </p:txBody>
      </p:sp>
      <p:sp>
        <p:nvSpPr>
          <p:cNvPr id="6" name="Slide Number Placeholder 5"/>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fld>
            <a:endParaRPr lang="en-US"/>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6326</Words>
  <Application>WPS Presentation</Application>
  <PresentationFormat>Widescreen</PresentationFormat>
  <Paragraphs>247</Paragraphs>
  <Slides>18</Slides>
  <Notes>14</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18</vt:i4>
      </vt:variant>
    </vt:vector>
  </HeadingPairs>
  <TitlesOfParts>
    <vt:vector size="29" baseType="lpstr">
      <vt:lpstr>Arial</vt:lpstr>
      <vt:lpstr>SimSun</vt:lpstr>
      <vt:lpstr>Wingdings</vt:lpstr>
      <vt:lpstr>Arial</vt:lpstr>
      <vt:lpstr>Calibri</vt:lpstr>
      <vt:lpstr>Times New Roman</vt:lpstr>
      <vt:lpstr>Times New Roman</vt:lpstr>
      <vt:lpstr>Wingdings 3</vt:lpstr>
      <vt:lpstr>Microsoft YaHei</vt:lpstr>
      <vt:lpstr>Arial Unicode MS</vt:lpstr>
      <vt:lpstr>Office Theme</vt:lpstr>
      <vt:lpstr>PowerPoint 演示文稿</vt:lpstr>
      <vt:lpstr>PowerPoint 演示文稿</vt:lpstr>
      <vt:lpstr>PowerPoint 演示文稿</vt:lpstr>
      <vt:lpstr>PowerPoint 演示文稿</vt:lpstr>
      <vt:lpstr>PowerPoint 演示文稿</vt:lpstr>
      <vt:lpstr>EXISTING SOLUTION</vt:lpstr>
      <vt:lpstr>PROPOSED SOLUTION</vt:lpstr>
      <vt:lpstr>FLOW CHART</vt:lpstr>
      <vt:lpstr>MODULE USED</vt:lpstr>
      <vt:lpstr>PowerPoint 演示文稿</vt:lpstr>
      <vt:lpstr>PowerPoint 演示文稿</vt:lpstr>
      <vt:lpstr>BLOCK DIAGRAM</vt:lpstr>
      <vt:lpstr>APPLICATIONS</vt:lpstr>
      <vt:lpstr>RESULTS &amp; DISCUSSION</vt:lpstr>
      <vt:lpstr>PowerPoint 演示文稿</vt:lpstr>
      <vt:lpstr>PowerPoint 演示文稿</vt:lpstr>
      <vt:lpstr>CONCLUSION &amp; FUTURE SCOPE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SANJAY S V</dc:creator>
  <cp:lastModifiedBy>Baskar R</cp:lastModifiedBy>
  <cp:revision>46</cp:revision>
  <dcterms:created xsi:type="dcterms:W3CDTF">2026-02-01T13:22:00Z</dcterms:created>
  <dcterms:modified xsi:type="dcterms:W3CDTF">2026-05-08T16:28:48Z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D04663ECCFFE4DAFBA5774B0BE54F5FB_12</vt:lpwstr>
  </property>
  <property fmtid="{D5CDD505-2E9C-101B-9397-08002B2CF9AE}" pid="3" name="KSOProductBuildVer">
    <vt:lpwstr>1033-12.1.0.25830</vt:lpwstr>
  </property>
</Properties>
</file>